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7d82fdd7-4328-2525-bc36-08d62b23bae3}">
          <p14:sldIdLst>
            <p14:sldId id="256"/>
            <p14:sldId id="257"/>
            <p14:sldId id="258"/>
          </p14:sldIdLst>
        </p14:section>
        <p14:section name="1 · Por que versionar" id="{026c23da-b613-9a6c-8e1e-9d0c477cd70d}">
          <p14:sldIdLst>
            <p14:sldId id="259"/>
            <p14:sldId id="260"/>
            <p14:sldId id="261"/>
            <p14:sldId id="262"/>
            <p14:sldId id="263"/>
          </p14:sldIdLst>
        </p14:section>
        <p14:section name="2 · A malha ferroviária" id="{2f1688ed-84d4-35ad-67d2-79b216fa7a65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3 · Os tipos de merge" id="{a71d1ecd-6ae7-eb89-a5c8-48f542094393}">
          <p14:sldIdLst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4 · A viagem no Modelo VIC" id="{35680c6f-6393-3a78-fea1-00c044c5fbad}">
          <p14:sldIdLst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Fechamento" id="{d74e4ad6-3279-1502-5f0a-eb0db8655cf0}">
          <p14:sldIdLst>
            <p14:sldId id="291"/>
            <p14:sldId id="292"/>
            <p14:sldId id="293"/>
            <p14:sldId id="2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Boas-vindas. A oficina tem 3 horas, com um intervalo, e três dinâmicas em grupo. Ninguém aqui precisa saber programar. Vamos usar duas lentes o tempo todo: a ferrovia, para enxergar o GitFlow, e o contrato com suas minutas, para entender por que ele existe.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 agenda: quatro blocos curtos e três dinâmicas. Os horários são aproximados. Combine as regras do Teams e lembre que pergunta boba não existe: a oficina é para quem está vendo isso pela primeira vez.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Abra a enquete com as quatro opções e dê um minuto. Não revele a resposta: ela volta no fechamento. Se alguém comentar, devolva a pergunta: e se duas áreas mudarem a mesma cláusula?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Primeiro bloco: o problema que o Git e o GitFlow resolvem. A lente aqui é o contrato.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mundo já viu essa pasta. Pergunte: qual destes é o contrato que vale? O problema não é falta de cuidado: é que arquivos copiados não guardam quem mudou, o quê e por quê, nem dizem qual cópia é a oficial. Com código é igual, só que com milhares de arquivos e dezenas de pessoas.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commit é a rubrica em cada página da minuta: quem, quando, o quê e por quê. O repositório é a pasta que guarda todas as versões. Isso já resolve a pergunta "quem mudou a cláusula 7?". Ainda não resolve: qual versão vale e como várias pessoas mudam ao mesmo tempo. Para isso existe o GitFlow.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GitFlow é um combinado: quais trilhos existem, de onde saem, para onde vão e quem libera a passagem. Foi publicado em 2010 por Vincent Driessen e virou padrão de mercado. No Modelo VIC, ele é regra, não sugestão: a Diretriz 2 diz que o fluxo deve ser aderente ao GitFlow.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Combine com a turma: sempre que aparecer um desenho, pense em trilhos; sempre que aparecer uma regra, pense no contrato. As duas lentes falam da mesma coisa. Não precisa decorar termo nenhum agora.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Segundo bloco: os cinco tipos de branch do GitFlow, desenhados como trilhos.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 desenho da esquerda para a direita. A linha azul é um trilho; cada bolinha é uma estação, um commit. Em B, sai um desvio: alguém foi trabalhar separado. F1 e F2 são as paradas desse trabalho. Em M, o desvio volta: isso é o merge. O tempo corre para a direita; C veio depois de tudo.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main é o contrato que está valendo; a develop é a minuta da próxima versão. Ninguém escreve direto em nenhum dos dois: tudo chega por um desvio, com aprovação. Pergunta para a turma: se a develop é a minuta, quando ela vira contrato assinado? Resposta: quando passa pela vistoria, a release, e entra na 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asterisco quer dizer "qualquer nome": feature/assinatura, feature/alerta. Feature é obra: uma novidade. Release é vistoria: a versão para de receber novidades e só recebe correção, como a minuta que vai para assinatura. Hotfix é emergência: algo quebrou em produção e não dá para esperar a próxima versão. Repare na última linha de cada cartão: de onde sai e para onde vai. Release e hotfix voltam para dois lugares.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Percorra a malha devagar, da esquerda para a direita. 1) A obra A sai da develop e volta. 2) Do mesmo ponto saem a vistoria (release) e a obra B. 3) A vistoria recebe uma correção, entra na main com a placa v1.1.0.31 e volta para a develop. 4) Logo depois, uma emergência sai da main, entra na main com a placa v1.1.1.33 e também volta para a develop. 5) A obra B, mais longa, entra na develop e vai esperar a próxima vistoria. Pergunte: em que versão a obra B chega ao cliente? Na próxima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a tabela da Diretriz 2. Vale a pena ler linha a linha. A regra de ouro é o merge back, que volta no bloco 4: se o aditivo foi assinado e não entrou na minuta da próxima versão, a próxima versão sai sem o aditivo.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nome não é enfeite: é por ele que as ferramentas e os indicadores do Modelo VIC reconhecem o trilho. A Diretriz 11 fixa o formato. A placa é a tag; o número tem quatro partes, que explicamos no bloco 4. Por ora: placa na main = versão que foi para produção.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abrir as salas, faça a primeira carta com a turma: "o app em produção cobra a tarifa em dobro" vai para hotfix, sai da main e volta para main e develop. Abra as salas com 12 minutos. Na volta, peça a cada grupo uma carta de que teve dúvida. O gabarito está no material das dinâmicas.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Intervalo de 10 minutos. Deixe este slide na tela.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Terceiro bloco, o mais importante: os jeitos de juntar um desvio à linha. Todos levam o mesmo conteúdo; o que muda é a história que fica registrada.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pergunta que decide tudo. Se a develop não andou, juntar é trivial: o fast-forward. Se andou, há três escolhas: merge commit, squash ou rebase. Vamos ver uma por uma, sempre com o mesmo desenho: develop com A, B e C; desvio com F1 e F2.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Fast-forward quer dizer avanço rápido: o marcador da develop só pula para a frente, até F2. Não existe junção, porque não há o que juntar. Por isso o histórico fica reto e perde o desenho do desvio. No GitFlow original, os merges de feature evitam o fast-forward justamente para que o desvio continue visível.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o jeito mais fiel: nada é reescrito, e a junção vira uma estação própria, o commit de merge. No GitFlow original, todas as junções são assim, com a opção que impede o fast-forward. O nome nos botões costuma ser "merge commit" ou "merge (no fast-forward)".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Squash quer dizer espremer. É útil quando o desvio tem muitas paradas pequenas, do tipo "ajuste", "ajuste 2", "agora vai". O histórico da develop fica limpo, uma estação por entrega. O preço é perder o detalhe. Curiosidade do Modelo VIC: o squash reduz o número de commits sem reduzir a divergência real, por isso a Diretriz 4 não mede divergência só pela contagem.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Rebase quer dizer mudar a base. O desvio, que saía de B, passa a sair de C. As estações são reconstruídas, por isso ganham o apóstrofo: F1 linha e F2 linha. Depois do rebase, a junção vira um fast-forward. Atenção: só se faz rebase no próprio desvio. Reescrever a história de um trilho compartilhado é como trocar as páginas de um contrato que outras pessoas estão lendo.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 para fotografar. A frase de baixo é a mais importante: nenhum tipo de merge perde a mudança em si. A escolha é sobre o que a história conta e sobre como fica fácil, depois, achar quando algo entrou.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plataformas do Modelo VIC são o GitHub e o Azure DevOps. Os botões aparecem na hora de concluir o pull request. O fast-forward puro não tem botão próprio: ele acontece quando a linha não andou, ou depois de um rebase. O semi-linear, do Azure DevOps, faz o rebase e ainda cria a estação de junção.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Conflito não é erro de ninguém: é o Git avisando que duas mudanças disputam o mesmo trecho e que ele não vai adivinhar qual vale. Pode acontecer em qualquer tipo de merge, inclusive no rebase. Ponto para o público de negócio: quando o conflito é de regra, como a multa, a decisão é de negócio; o time técnico vai precisar de você.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enquete por rodada, com as opções Fast-forward, Merge commit, Squash e Rebase. Respostas: 1 squash (F1+F2 numa estação só); 2 fast-forward (linha reta, sem C: a linha não tinha andado); 3 rebase (F1 linha e F2 linha saindo de C); 4 merge commit (a junção M). A rodada 2 é a pegadinha: não tem C, porque partiu do "antes" em que a linha não andou. Deixe na tela, ou cole no chat, os dois "antes".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Respostas: 5 merge commit; 6 squash; 7 rebase; 8 fast-forward. Na 7, alguém pode dizer merge commit, trazendo a develop para o desvio: também resolve, e é a resposta certa quando o desvio é compartilhado com outras pessoas. Reforce: rebase só no próprio desvio.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Quarto bloco: as regras do Modelo VIC que envolvem o GitFlow. É um bloco curto, com seis slides em 15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pull request, ou PR, é o pedido para levar um desvio a um trilho permanente. Ele tem dois momentos, e o Modelo VIC separa quem faz cada um: os revisores aprovam; o Integrador conclui. É ali que se escolhe o tipo de merge. Tudo fica registrado: quem pediu, quem aprovou, o que se discutiu.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a regra de ouro da tabela de origem e destino. Pergunte: o que acontece se a correção do texto, feita na vistoria, não voltar para a develop? A próxima versão é montada a partir da develop, então sai com o texto errado de novo. Isso se chama regressão.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Basta lembrar: o número conta o tamanho da mudança. Primeiro número mudou, cuidado: algo que já existia mudou. Segundo número: novidade. Terceiro: correção. O quarto, o BUILD, identifica a montagem, e só versão com os quatro números vai para produção. A nota de versão é o quadro de alterações anexo ao contrato: adicionado, alterado, corrigido.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contrato: quanto mais tempo uma área fica com a sua cópia sem olhar a minuta, mais difícil é juntar depois. O Modelo VIC mede isso, a divergência, e fixa limites por faixa de maturidade; a meta institucional é a faixa 3. Release e hotfix têm só o limite de vida, porque a release se afasta da develop por desenho.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do bloco. Não leia a tabela inteira: escolha duas linhas e mostre que tudo o que vimos hoje está escrito nas diretrizes do Modelo VIC. As diretrizes 1 e 12 ficam de fora porque tratam de testes e do conteúdo dos arquivos, não do fluxo.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grupo tem no quadro as peças: trilhos das cinco cores, estações e placas. Peça que numerem as estações com o número do evento. Na volta, um grupo mostra a malha e os outros comparam; depois mostre o gabarito, que está no material das dinâmicas. Respostas: feature/assinatura, feature/alerta, release/2.4.0 e hotfix/2.4.1; placas v2.4.0.118 e v2.4.1.121; o alerta chega na 2.5.0, a próxima release, MINOR porque é novidade; sem o merge back, a 2.5.0 voltaria a calcular a multa errada; no evento 3, a resposta é aberta.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Revele a resposta: C. Cada trilho é uma cópia, e o GitFlow é a regra de como e quando as cópias voltam. A é a pasta do FINAL_v3; B funciona, mas ninguém trabalha em paralelo; D é o atropelo. Repita a enquete e mostre a diferença.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ganho prático para quem é de negócio: com estas seis perguntas, a pessoa acompanha uma entrega sem precisar abrir o código. Peça que cada um escolha a pergunta que vai fazer na próxima reunião com o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frases para levar. Envie a cartilha de bolso no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Agradeça e abra para dúvidas.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odelo-vic/prototypes/versionamento-codigo/assets/brand/vic-logo-negat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3566160" cy="989226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920240"/>
            <a:ext cx="74980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65760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40080" y="5897880"/>
            <a:ext cx="67665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SOR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2743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600" b="1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9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926080"/>
            <a:ext cx="7498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69080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5" name="Shape 0"/>
          <p:cNvSpPr/>
          <p:nvPr/>
        </p:nvSpPr>
        <p:spPr>
          <a:xfrm>
            <a:off x="8503920" y="2377440"/>
            <a:ext cx="2926080" cy="64008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6" name="Text 1"/>
          <p:cNvSpPr/>
          <p:nvPr/>
        </p:nvSpPr>
        <p:spPr>
          <a:xfrm>
            <a:off x="8823960" y="2290572"/>
            <a:ext cx="237744" cy="23774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2"/>
          <p:cNvSpPr/>
          <p:nvPr/>
        </p:nvSpPr>
        <p:spPr>
          <a:xfrm>
            <a:off x="9848088" y="2290572"/>
            <a:ext cx="237744" cy="23774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3"/>
          <p:cNvSpPr/>
          <p:nvPr/>
        </p:nvSpPr>
        <p:spPr>
          <a:xfrm>
            <a:off x="10872216" y="2290572"/>
            <a:ext cx="237744" cy="23774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4"/>
          <p:cNvSpPr/>
          <p:nvPr/>
        </p:nvSpPr>
        <p:spPr>
          <a:xfrm>
            <a:off x="9147658" y="2880360"/>
            <a:ext cx="2282342" cy="64008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0" name="Text 5"/>
          <p:cNvSpPr/>
          <p:nvPr/>
        </p:nvSpPr>
        <p:spPr>
          <a:xfrm>
            <a:off x="9371137" y="2793492"/>
            <a:ext cx="237744" cy="23774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10169957" y="2793492"/>
            <a:ext cx="237744" cy="23774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10968777" y="2793492"/>
            <a:ext cx="237744" cy="23774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8"/>
          <p:cNvSpPr/>
          <p:nvPr/>
        </p:nvSpPr>
        <p:spPr>
          <a:xfrm>
            <a:off x="9791395" y="3383280"/>
            <a:ext cx="1638605" cy="64008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4" name="Text 9"/>
          <p:cNvSpPr/>
          <p:nvPr/>
        </p:nvSpPr>
        <p:spPr>
          <a:xfrm>
            <a:off x="9918314" y="3296412"/>
            <a:ext cx="237744" cy="23774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10491826" y="3296412"/>
            <a:ext cx="237744" cy="23774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11065337" y="3296412"/>
            <a:ext cx="237744" cy="237744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VALO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926080"/>
            <a:ext cx="7498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69080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4" name="Shape 0"/>
          <p:cNvSpPr/>
          <p:nvPr/>
        </p:nvSpPr>
        <p:spPr>
          <a:xfrm>
            <a:off x="8503920" y="2377440"/>
            <a:ext cx="2926080" cy="64008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5" name="Text 1"/>
          <p:cNvSpPr/>
          <p:nvPr/>
        </p:nvSpPr>
        <p:spPr>
          <a:xfrm>
            <a:off x="8823960" y="2290572"/>
            <a:ext cx="237744" cy="23774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9848088" y="2290572"/>
            <a:ext cx="237744" cy="23774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10872216" y="2290572"/>
            <a:ext cx="237744" cy="23774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4"/>
          <p:cNvSpPr/>
          <p:nvPr/>
        </p:nvSpPr>
        <p:spPr>
          <a:xfrm>
            <a:off x="9147658" y="2880360"/>
            <a:ext cx="2282342" cy="64008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9" name="Text 5"/>
          <p:cNvSpPr/>
          <p:nvPr/>
        </p:nvSpPr>
        <p:spPr>
          <a:xfrm>
            <a:off x="9371137" y="2793492"/>
            <a:ext cx="237744" cy="23774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10169957" y="2793492"/>
            <a:ext cx="237744" cy="23774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10968777" y="2793492"/>
            <a:ext cx="237744" cy="23774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9791395" y="3383280"/>
            <a:ext cx="1638605" cy="64008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3" name="Text 9"/>
          <p:cNvSpPr/>
          <p:nvPr/>
        </p:nvSpPr>
        <p:spPr>
          <a:xfrm>
            <a:off x="9918314" y="3296412"/>
            <a:ext cx="237744" cy="23774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10491826" y="3296412"/>
            <a:ext cx="237744" cy="23774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11065337" y="3296412"/>
            <a:ext cx="237744" cy="237744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pic>
        <p:nvPicPr>
          <p:cNvPr id="3" name="Image 0" descr="/home/user/modelo-vic/prototypes/versionamento-codigo/assets/brand/vic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64224"/>
            <a:ext cx="292608" cy="2926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32688" y="6373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Modelo VIC · Nos trilhos do GitFlow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M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6000" b="1" dirty="0">
                <a:solidFill>
                  <a:schemeClr val="tx2"/>
                </a:solidFill>
              </a:defRPr>
            </a:lvl1pPr>
          </a:lstStyle>
          <a:p>
            <a:pPr algn="ctr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15468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20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2200" dirty="0"/>
          </a:p>
        </p:txBody>
      </p:sp>
      <p:pic>
        <p:nvPicPr>
          <p:cNvPr id="4" name="Image 0" descr="/home/user/modelo-vic/prototypes/versionamento-codigo/assets/brand/vic-logo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4168" y="4572000"/>
            <a:ext cx="4023360" cy="111605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192024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Nos trilhos do GitFlow</a:t>
            </a:r>
            <a:endParaRPr lang="en-US" sz="5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40080" y="365760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Branches, merges e o Modelo VIC — oficina para quem nunca escreveu uma linha de código</a:t>
            </a:r>
            <a:endParaRPr lang="en-US" sz="2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40080" y="58978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versionamento e integração de código</a:t>
            </a:r>
            <a:endParaRPr lang="en-US" sz="1400" dirty="0"/>
          </a:p>
        </p:txBody>
      </p:sp>
      <p:sp>
        <p:nvSpPr>
          <p:cNvPr id="5" name="trilho capa 0"/>
          <p:cNvSpPr/>
          <p:nvPr/>
        </p:nvSpPr>
        <p:spPr>
          <a:xfrm>
            <a:off x="8412480" y="1463040"/>
            <a:ext cx="3108960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estacao capa"/>
          <p:cNvSpPr/>
          <p:nvPr/>
        </p:nvSpPr>
        <p:spPr>
          <a:xfrm>
            <a:off x="8540496" y="1353312"/>
            <a:ext cx="292608" cy="292608"/>
          </a:xfrm>
          <a:prstGeom prst="ellipse">
            <a:avLst/>
          </a:prstGeom>
          <a:solidFill>
            <a:srgbClr val="00437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estacao capa"/>
          <p:cNvSpPr/>
          <p:nvPr/>
        </p:nvSpPr>
        <p:spPr>
          <a:xfrm>
            <a:off x="9820656" y="1353312"/>
            <a:ext cx="292608" cy="292608"/>
          </a:xfrm>
          <a:prstGeom prst="ellipse">
            <a:avLst/>
          </a:prstGeom>
          <a:solidFill>
            <a:srgbClr val="00437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estacao capa"/>
          <p:cNvSpPr/>
          <p:nvPr/>
        </p:nvSpPr>
        <p:spPr>
          <a:xfrm>
            <a:off x="11100816" y="1353312"/>
            <a:ext cx="292608" cy="292608"/>
          </a:xfrm>
          <a:prstGeom prst="ellipse">
            <a:avLst/>
          </a:prstGeom>
          <a:solidFill>
            <a:srgbClr val="00437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rilho capa 1"/>
          <p:cNvSpPr/>
          <p:nvPr/>
        </p:nvSpPr>
        <p:spPr>
          <a:xfrm>
            <a:off x="8961120" y="2377440"/>
            <a:ext cx="2377440" cy="73152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10" name="estacao capa"/>
          <p:cNvSpPr/>
          <p:nvPr/>
        </p:nvSpPr>
        <p:spPr>
          <a:xfrm>
            <a:off x="9089136" y="2267712"/>
            <a:ext cx="292608" cy="292608"/>
          </a:xfrm>
          <a:prstGeom prst="ellipse">
            <a:avLst/>
          </a:prstGeom>
          <a:solidFill>
            <a:srgbClr val="00437A"/>
          </a:solidFill>
          <a:ln w="38100">
            <a:solidFill>
              <a:srgbClr val="F39200"/>
            </a:solidFill>
            <a:prstDash val="solid"/>
          </a:ln>
        </p:spPr>
      </p:sp>
      <p:sp>
        <p:nvSpPr>
          <p:cNvPr id="11" name="estacao capa"/>
          <p:cNvSpPr/>
          <p:nvPr/>
        </p:nvSpPr>
        <p:spPr>
          <a:xfrm>
            <a:off x="10003536" y="2267712"/>
            <a:ext cx="292608" cy="292608"/>
          </a:xfrm>
          <a:prstGeom prst="ellipse">
            <a:avLst/>
          </a:prstGeom>
          <a:solidFill>
            <a:srgbClr val="00437A"/>
          </a:solidFill>
          <a:ln w="38100">
            <a:solidFill>
              <a:srgbClr val="F39200"/>
            </a:solidFill>
            <a:prstDash val="solid"/>
          </a:ln>
        </p:spPr>
      </p:sp>
      <p:sp>
        <p:nvSpPr>
          <p:cNvPr id="12" name="estacao capa"/>
          <p:cNvSpPr/>
          <p:nvPr/>
        </p:nvSpPr>
        <p:spPr>
          <a:xfrm>
            <a:off x="10917936" y="2267712"/>
            <a:ext cx="292608" cy="292608"/>
          </a:xfrm>
          <a:prstGeom prst="ellipse">
            <a:avLst/>
          </a:prstGeom>
          <a:solidFill>
            <a:srgbClr val="00437A"/>
          </a:solidFill>
          <a:ln w="38100">
            <a:solidFill>
              <a:srgbClr val="F39200"/>
            </a:solidFill>
            <a:prstDash val="solid"/>
          </a:ln>
        </p:spPr>
      </p:sp>
      <p:sp>
        <p:nvSpPr>
          <p:cNvPr id="13" name="trilho capa 2"/>
          <p:cNvSpPr/>
          <p:nvPr/>
        </p:nvSpPr>
        <p:spPr>
          <a:xfrm>
            <a:off x="8412480" y="3291840"/>
            <a:ext cx="3108960" cy="73152"/>
          </a:xfrm>
          <a:prstGeom prst="rect">
            <a:avLst/>
          </a:prstGeom>
          <a:solidFill>
            <a:srgbClr val="005CA9"/>
          </a:solidFill>
          <a:ln/>
        </p:spPr>
      </p:sp>
      <p:sp>
        <p:nvSpPr>
          <p:cNvPr id="14" name="estacao capa"/>
          <p:cNvSpPr/>
          <p:nvPr/>
        </p:nvSpPr>
        <p:spPr>
          <a:xfrm>
            <a:off x="8540496" y="3182112"/>
            <a:ext cx="292608" cy="292608"/>
          </a:xfrm>
          <a:prstGeom prst="ellipse">
            <a:avLst/>
          </a:prstGeom>
          <a:solidFill>
            <a:srgbClr val="00437A"/>
          </a:solidFill>
          <a:ln w="38100">
            <a:solidFill>
              <a:srgbClr val="005CA9"/>
            </a:solidFill>
            <a:prstDash val="solid"/>
          </a:ln>
        </p:spPr>
      </p:sp>
      <p:sp>
        <p:nvSpPr>
          <p:cNvPr id="15" name="estacao capa"/>
          <p:cNvSpPr/>
          <p:nvPr/>
        </p:nvSpPr>
        <p:spPr>
          <a:xfrm>
            <a:off x="9820656" y="3182112"/>
            <a:ext cx="292608" cy="292608"/>
          </a:xfrm>
          <a:prstGeom prst="ellipse">
            <a:avLst/>
          </a:prstGeom>
          <a:solidFill>
            <a:srgbClr val="00437A"/>
          </a:solidFill>
          <a:ln w="38100">
            <a:solidFill>
              <a:srgbClr val="005CA9"/>
            </a:solidFill>
            <a:prstDash val="solid"/>
          </a:ln>
        </p:spPr>
      </p:sp>
      <p:sp>
        <p:nvSpPr>
          <p:cNvPr id="16" name="estacao capa"/>
          <p:cNvSpPr/>
          <p:nvPr/>
        </p:nvSpPr>
        <p:spPr>
          <a:xfrm>
            <a:off x="11100816" y="3182112"/>
            <a:ext cx="292608" cy="292608"/>
          </a:xfrm>
          <a:prstGeom prst="ellipse">
            <a:avLst/>
          </a:prstGeom>
          <a:solidFill>
            <a:srgbClr val="00437A"/>
          </a:solidFill>
          <a:ln w="38100">
            <a:solidFill>
              <a:srgbClr val="005CA9"/>
            </a:solidFill>
            <a:prstDash val="solid"/>
          </a:ln>
        </p:spPr>
      </p:sp>
      <p:sp>
        <p:nvSpPr>
          <p:cNvPr id="17" name="trilho capa 3"/>
          <p:cNvSpPr/>
          <p:nvPr/>
        </p:nvSpPr>
        <p:spPr>
          <a:xfrm>
            <a:off x="9235440" y="4206240"/>
            <a:ext cx="2011680" cy="73152"/>
          </a:xfrm>
          <a:prstGeom prst="rect">
            <a:avLst/>
          </a:prstGeom>
          <a:solidFill>
            <a:srgbClr val="21CAAF"/>
          </a:solidFill>
          <a:ln/>
        </p:spPr>
      </p:sp>
      <p:sp>
        <p:nvSpPr>
          <p:cNvPr id="18" name="estacao capa"/>
          <p:cNvSpPr/>
          <p:nvPr/>
        </p:nvSpPr>
        <p:spPr>
          <a:xfrm>
            <a:off x="9363456" y="4096512"/>
            <a:ext cx="292608" cy="292608"/>
          </a:xfrm>
          <a:prstGeom prst="ellipse">
            <a:avLst/>
          </a:prstGeom>
          <a:solidFill>
            <a:srgbClr val="00437A"/>
          </a:solidFill>
          <a:ln w="38100">
            <a:solidFill>
              <a:srgbClr val="21CAAF"/>
            </a:solidFill>
            <a:prstDash val="solid"/>
          </a:ln>
        </p:spPr>
      </p:sp>
      <p:sp>
        <p:nvSpPr>
          <p:cNvPr id="19" name="estacao capa"/>
          <p:cNvSpPr/>
          <p:nvPr/>
        </p:nvSpPr>
        <p:spPr>
          <a:xfrm>
            <a:off x="10094976" y="4096512"/>
            <a:ext cx="292608" cy="292608"/>
          </a:xfrm>
          <a:prstGeom prst="ellipse">
            <a:avLst/>
          </a:prstGeom>
          <a:solidFill>
            <a:srgbClr val="00437A"/>
          </a:solidFill>
          <a:ln w="38100">
            <a:solidFill>
              <a:srgbClr val="21CAAF"/>
            </a:solidFill>
            <a:prstDash val="solid"/>
          </a:ln>
        </p:spPr>
      </p:sp>
      <p:sp>
        <p:nvSpPr>
          <p:cNvPr id="20" name="estacao capa"/>
          <p:cNvSpPr/>
          <p:nvPr/>
        </p:nvSpPr>
        <p:spPr>
          <a:xfrm>
            <a:off x="10826496" y="4096512"/>
            <a:ext cx="292608" cy="292608"/>
          </a:xfrm>
          <a:prstGeom prst="ellipse">
            <a:avLst/>
          </a:prstGeom>
          <a:solidFill>
            <a:srgbClr val="00437A"/>
          </a:solidFill>
          <a:ln w="38100">
            <a:solidFill>
              <a:srgbClr val="21CAAF"/>
            </a:solidFill>
            <a:prstDash val="solid"/>
          </a:ln>
        </p:spPr>
      </p:sp>
      <p:sp>
        <p:nvSpPr>
          <p:cNvPr id="21" name="placa capa"/>
          <p:cNvSpPr/>
          <p:nvPr/>
        </p:nvSpPr>
        <p:spPr>
          <a:xfrm>
            <a:off x="10607040" y="868680"/>
            <a:ext cx="1051560" cy="384048"/>
          </a:xfrm>
          <a:prstGeom prst="rect">
            <a:avLst>
              <a:gd name="adj" fmla="val 11905"/>
            </a:avLst>
          </a:prstGeom>
          <a:solidFill>
            <a:srgbClr val="F3920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607040" y="86868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v1.0</a:t>
            </a:r>
            <a:endParaRPr lang="en-US" sz="1600" dirty="0"/>
          </a:p>
        </p:txBody>
      </p:sp>
      <p:sp>
        <p:nvSpPr>
          <p:cNvPr id="23" name="poste capa"/>
          <p:cNvSpPr/>
          <p:nvPr/>
        </p:nvSpPr>
        <p:spPr>
          <a:xfrm>
            <a:off x="11119104" y="1252728"/>
            <a:ext cx="36576" cy="210312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Como vai ser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</a:t>
            </a:r>
            <a:endParaRPr lang="en-US" sz="1400" dirty="0"/>
          </a:p>
        </p:txBody>
      </p:sp>
      <p:sp>
        <p:nvSpPr>
          <p:cNvPr id="4" name="marca Abertura"/>
          <p:cNvSpPr/>
          <p:nvPr/>
        </p:nvSpPr>
        <p:spPr>
          <a:xfrm>
            <a:off x="1371600" y="1536192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783080" y="1463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Abertura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019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0:10</a:t>
            </a:r>
            <a:endParaRPr lang="en-US" sz="1400" dirty="0"/>
          </a:p>
        </p:txBody>
      </p:sp>
      <p:sp>
        <p:nvSpPr>
          <p:cNvPr id="7" name="marca 1 · Por que versionar"/>
          <p:cNvSpPr/>
          <p:nvPr/>
        </p:nvSpPr>
        <p:spPr>
          <a:xfrm>
            <a:off x="1371600" y="1975104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783080" y="19019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 · Por que versionar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34086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0:30</a:t>
            </a:r>
            <a:endParaRPr lang="en-US" sz="1400" dirty="0"/>
          </a:p>
        </p:txBody>
      </p:sp>
      <p:sp>
        <p:nvSpPr>
          <p:cNvPr id="10" name="marca 2 · A malha ferroviária"/>
          <p:cNvSpPr/>
          <p:nvPr/>
        </p:nvSpPr>
        <p:spPr>
          <a:xfrm>
            <a:off x="1371600" y="2414016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783080" y="234086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 · A malha ferroviária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77977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0:55</a:t>
            </a:r>
            <a:endParaRPr lang="en-US" sz="1400" dirty="0"/>
          </a:p>
        </p:txBody>
      </p:sp>
      <p:sp>
        <p:nvSpPr>
          <p:cNvPr id="13" name="marca Dinâmica 1 · Qual trilho?"/>
          <p:cNvSpPr/>
          <p:nvPr/>
        </p:nvSpPr>
        <p:spPr>
          <a:xfrm>
            <a:off x="1371600" y="285292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783080" y="277977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Dinâmica 1 · Qual trilho?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21868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1:15</a:t>
            </a:r>
            <a:endParaRPr lang="en-US" sz="1400" dirty="0"/>
          </a:p>
        </p:txBody>
      </p:sp>
      <p:sp>
        <p:nvSpPr>
          <p:cNvPr id="16" name="marca Intervalo"/>
          <p:cNvSpPr/>
          <p:nvPr/>
        </p:nvSpPr>
        <p:spPr>
          <a:xfrm>
            <a:off x="1371600" y="3291840"/>
            <a:ext cx="219456" cy="21945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783080" y="321868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Intervalo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657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1:25</a:t>
            </a:r>
            <a:endParaRPr lang="en-US" sz="1400" dirty="0"/>
          </a:p>
        </p:txBody>
      </p:sp>
      <p:sp>
        <p:nvSpPr>
          <p:cNvPr id="19" name="marca 3 · Os tipos de merge"/>
          <p:cNvSpPr/>
          <p:nvPr/>
        </p:nvSpPr>
        <p:spPr>
          <a:xfrm>
            <a:off x="1371600" y="3730752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783080" y="3657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3 · Os tipos de merge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09651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1:55</a:t>
            </a:r>
            <a:endParaRPr lang="en-US" sz="1400" dirty="0"/>
          </a:p>
        </p:txBody>
      </p:sp>
      <p:sp>
        <p:nvSpPr>
          <p:cNvPr id="22" name="marca Dinâmica 2 · Qual foi o merge?"/>
          <p:cNvSpPr/>
          <p:nvPr/>
        </p:nvSpPr>
        <p:spPr>
          <a:xfrm>
            <a:off x="1371600" y="4169664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783080" y="40965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Dinâmica 2 · Qual foi o merge?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53542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2:10</a:t>
            </a:r>
            <a:endParaRPr lang="en-US" sz="1400" dirty="0"/>
          </a:p>
        </p:txBody>
      </p:sp>
      <p:sp>
        <p:nvSpPr>
          <p:cNvPr id="25" name="marca 4 · A viagem no Modelo VIC"/>
          <p:cNvSpPr/>
          <p:nvPr/>
        </p:nvSpPr>
        <p:spPr>
          <a:xfrm>
            <a:off x="1371600" y="4608576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783080" y="453542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4 · A viagem no Modelo VIC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97433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2:25</a:t>
            </a:r>
            <a:endParaRPr lang="en-US" sz="1400" dirty="0"/>
          </a:p>
        </p:txBody>
      </p:sp>
      <p:sp>
        <p:nvSpPr>
          <p:cNvPr id="28" name="marca Dinâmica 3 · A viagem do Contratos Online"/>
          <p:cNvSpPr/>
          <p:nvPr/>
        </p:nvSpPr>
        <p:spPr>
          <a:xfrm>
            <a:off x="1371600" y="50474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783080" y="497433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Dinâmica 3 · A viagem do Contratos Online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4132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2:50</a:t>
            </a:r>
            <a:endParaRPr lang="en-US" sz="1400" dirty="0"/>
          </a:p>
        </p:txBody>
      </p:sp>
      <p:sp>
        <p:nvSpPr>
          <p:cNvPr id="31" name="marca Fechamento"/>
          <p:cNvSpPr/>
          <p:nvPr/>
        </p:nvSpPr>
        <p:spPr>
          <a:xfrm>
            <a:off x="1371600" y="5486400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783080" y="541324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Fechamento</a:t>
            </a:r>
            <a:endParaRPr lang="en-US" sz="1600" dirty="0"/>
          </a:p>
        </p:txBody>
      </p:sp>
      <p:sp>
        <p:nvSpPr>
          <p:cNvPr id="33" name="combinados"/>
          <p:cNvSpPr/>
          <p:nvPr/>
        </p:nvSpPr>
        <p:spPr>
          <a:xfrm>
            <a:off x="7223760" y="1417320"/>
            <a:ext cx="4389120" cy="4663440"/>
          </a:xfrm>
          <a:prstGeom prst="roundRect">
            <a:avLst>
              <a:gd name="adj" fmla="val 2500"/>
            </a:avLst>
          </a:prstGeom>
          <a:solidFill>
            <a:schemeClr val="accent5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498080" y="1645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Combinados</a:t>
            </a:r>
            <a:endParaRPr lang="en-US" sz="2000" dirty="0"/>
          </a:p>
        </p:txBody>
      </p:sp>
      <p:sp>
        <p:nvSpPr>
          <p:cNvPr id="35" name="circulo MdVideocam"/>
          <p:cNvSpPr/>
          <p:nvPr/>
        </p:nvSpPr>
        <p:spPr>
          <a:xfrm>
            <a:off x="7498080" y="2286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icone MdVideocam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096" y="2414016"/>
            <a:ext cx="384048" cy="384048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8366760" y="22860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Câmera opcional</a:t>
            </a:r>
            <a:endParaRPr lang="en-US" sz="1600" dirty="0"/>
          </a:p>
        </p:txBody>
      </p:sp>
      <p:sp>
        <p:nvSpPr>
          <p:cNvPr id="38" name="circulo MdMicOff"/>
          <p:cNvSpPr/>
          <p:nvPr/>
        </p:nvSpPr>
        <p:spPr>
          <a:xfrm>
            <a:off x="7498080" y="32004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9" name="icone MdMicOff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6096" y="3328416"/>
            <a:ext cx="384048" cy="384048"/>
          </a:xfrm>
          <a:prstGeom prst="rect">
            <a:avLst/>
          </a:prstGeom>
        </p:spPr>
      </p:pic>
      <p:sp>
        <p:nvSpPr>
          <p:cNvPr id="40" name="Text 36"/>
          <p:cNvSpPr txBox="1"/>
          <p:nvPr/>
        </p:nvSpPr>
        <p:spPr>
          <a:xfrm>
            <a:off x="8366760" y="3200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Microfone fechado fora das salas</a:t>
            </a:r>
            <a:endParaRPr lang="en-US" sz="1600" dirty="0"/>
          </a:p>
        </p:txBody>
      </p:sp>
      <p:sp>
        <p:nvSpPr>
          <p:cNvPr id="41" name="circulo MdChat"/>
          <p:cNvSpPr/>
          <p:nvPr/>
        </p:nvSpPr>
        <p:spPr>
          <a:xfrm>
            <a:off x="7498080" y="4114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2" name="icone MdCha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096" y="4242816"/>
            <a:ext cx="384048" cy="384048"/>
          </a:xfrm>
          <a:prstGeom prst="rect">
            <a:avLst/>
          </a:prstGeom>
        </p:spPr>
      </p:pic>
      <p:sp>
        <p:nvSpPr>
          <p:cNvPr id="43" name="Text 38"/>
          <p:cNvSpPr txBox="1"/>
          <p:nvPr/>
        </p:nvSpPr>
        <p:spPr>
          <a:xfrm>
            <a:off x="8366760" y="4114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Chat aberto o tempo todo: pergunte quando quiser</a:t>
            </a:r>
            <a:endParaRPr lang="en-US" sz="1600" dirty="0"/>
          </a:p>
        </p:txBody>
      </p:sp>
      <p:sp>
        <p:nvSpPr>
          <p:cNvPr id="44" name="circulo MdGroups"/>
          <p:cNvSpPr/>
          <p:nvPr/>
        </p:nvSpPr>
        <p:spPr>
          <a:xfrm>
            <a:off x="7498080" y="5029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5" name="icone MdGroup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6096" y="5157216"/>
            <a:ext cx="384048" cy="384048"/>
          </a:xfrm>
          <a:prstGeom prst="rect">
            <a:avLst/>
          </a:prstGeom>
        </p:spPr>
      </p:pic>
      <p:sp>
        <p:nvSpPr>
          <p:cNvPr id="46" name="Text 40"/>
          <p:cNvSpPr txBox="1"/>
          <p:nvPr/>
        </p:nvSpPr>
        <p:spPr>
          <a:xfrm>
            <a:off x="8366760" y="5029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Três dinâmicas em salas, em grupos de 4 ou 5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Três áreas, um contrato, ao mesmo tempo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jurídico, o comercial e o financeiro precisam mudar o mesmo contrato nesta semana. O que garante que nenhuma mudança se perde?</a:t>
            </a:r>
            <a:endParaRPr lang="en-US" sz="1800" dirty="0"/>
          </a:p>
        </p:txBody>
      </p:sp>
      <p:sp>
        <p:nvSpPr>
          <p:cNvPr id="4" name="opcao A"/>
          <p:cNvSpPr/>
          <p:nvPr/>
        </p:nvSpPr>
        <p:spPr>
          <a:xfrm>
            <a:off x="548640" y="2286000"/>
            <a:ext cx="2624328" cy="3291840"/>
          </a:xfrm>
          <a:prstGeom prst="roundRect">
            <a:avLst>
              <a:gd name="adj" fmla="val 4181"/>
            </a:avLst>
          </a:prstGeom>
          <a:solidFill>
            <a:schemeClr val="bg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4688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A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Cada um manda a sua versão por e-mail, com a data no nome do arquivo</a:t>
            </a:r>
            <a:endParaRPr lang="en-US" sz="1700" dirty="0"/>
          </a:p>
        </p:txBody>
      </p:sp>
      <p:sp>
        <p:nvSpPr>
          <p:cNvPr id="7" name="opcao B"/>
          <p:cNvSpPr/>
          <p:nvPr/>
        </p:nvSpPr>
        <p:spPr>
          <a:xfrm>
            <a:off x="3355848" y="2286000"/>
            <a:ext cx="2624328" cy="3291840"/>
          </a:xfrm>
          <a:prstGeom prst="roundRect">
            <a:avLst>
              <a:gd name="adj" fmla="val 4181"/>
            </a:avLst>
          </a:prstGeom>
          <a:solidFill>
            <a:schemeClr val="bg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30168" y="24688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B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630168" y="342900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Uma pessoa edita de cada vez; as outras esperam a vez</a:t>
            </a:r>
            <a:endParaRPr lang="en-US" sz="1700" dirty="0"/>
          </a:p>
        </p:txBody>
      </p:sp>
      <p:sp>
        <p:nvSpPr>
          <p:cNvPr id="10" name="opcao C"/>
          <p:cNvSpPr/>
          <p:nvPr/>
        </p:nvSpPr>
        <p:spPr>
          <a:xfrm>
            <a:off x="6163056" y="2286000"/>
            <a:ext cx="2624328" cy="3291840"/>
          </a:xfrm>
          <a:prstGeom prst="roundRect">
            <a:avLst>
              <a:gd name="adj" fmla="val 4181"/>
            </a:avLst>
          </a:prstGeom>
          <a:solidFill>
            <a:schemeClr val="bg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37376" y="24688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C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6437376" y="342900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Cada área trabalha numa cópia, e uma regra diz como e quando as cópias voltam ao original</a:t>
            </a:r>
            <a:endParaRPr lang="en-US" sz="1700" dirty="0"/>
          </a:p>
        </p:txBody>
      </p:sp>
      <p:sp>
        <p:nvSpPr>
          <p:cNvPr id="13" name="opcao D"/>
          <p:cNvSpPr/>
          <p:nvPr/>
        </p:nvSpPr>
        <p:spPr>
          <a:xfrm>
            <a:off x="8970264" y="2286000"/>
            <a:ext cx="2624328" cy="3291840"/>
          </a:xfrm>
          <a:prstGeom prst="roundRect">
            <a:avLst>
              <a:gd name="adj" fmla="val 4181"/>
            </a:avLst>
          </a:prstGeom>
          <a:solidFill>
            <a:schemeClr val="bg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44584" y="24688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D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9244584" y="342900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Todo mundo edita o mesmo arquivo na pasta compartilhada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Responda na enquete. A resposta vem no fim.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chemeClr val="accent2"/>
                </a:solidFill>
              </a:rPr>
              <a:t>1</a:t>
            </a:r>
            <a:endParaRPr lang="en-US" sz="9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9260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Por que versionar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690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O contrato e suas minutas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Qual destes vale?</a:t>
            </a:r>
            <a:endParaRPr lang="en-US" sz="3200" dirty="0"/>
          </a:p>
        </p:txBody>
      </p:sp>
      <p:sp>
        <p:nvSpPr>
          <p:cNvPr id="3" name="arquivo 0"/>
          <p:cNvSpPr/>
          <p:nvPr/>
        </p:nvSpPr>
        <p:spPr>
          <a:xfrm>
            <a:off x="548640" y="1463040"/>
            <a:ext cx="603504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/>
        </p:spPr>
      </p:sp>
      <p:sp>
        <p:nvSpPr>
          <p:cNvPr id="4" name="circulo MdDescription"/>
          <p:cNvSpPr/>
          <p:nvPr/>
        </p:nvSpPr>
        <p:spPr>
          <a:xfrm>
            <a:off x="685800" y="155448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icone MdDescrip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655064"/>
            <a:ext cx="301752" cy="3017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4630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contrato_v1.docx</a:t>
            </a:r>
            <a:endParaRPr lang="en-US" sz="1500" dirty="0"/>
          </a:p>
        </p:txBody>
      </p:sp>
      <p:sp>
        <p:nvSpPr>
          <p:cNvPr id="7" name="arquivo 1"/>
          <p:cNvSpPr/>
          <p:nvPr/>
        </p:nvSpPr>
        <p:spPr>
          <a:xfrm>
            <a:off x="713232" y="2331720"/>
            <a:ext cx="603504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/>
        </p:spPr>
      </p:sp>
      <p:sp>
        <p:nvSpPr>
          <p:cNvPr id="8" name="circulo MdDescription"/>
          <p:cNvSpPr/>
          <p:nvPr/>
        </p:nvSpPr>
        <p:spPr>
          <a:xfrm>
            <a:off x="850392" y="242316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9" name="icone MdDescripti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523744"/>
            <a:ext cx="301752" cy="30175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90472" y="23317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contrato_v2_juridico.docx</a:t>
            </a:r>
            <a:endParaRPr lang="en-US" sz="1500" dirty="0"/>
          </a:p>
        </p:txBody>
      </p:sp>
      <p:sp>
        <p:nvSpPr>
          <p:cNvPr id="11" name="arquivo 2"/>
          <p:cNvSpPr/>
          <p:nvPr/>
        </p:nvSpPr>
        <p:spPr>
          <a:xfrm>
            <a:off x="877824" y="3200400"/>
            <a:ext cx="603504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/>
        </p:spPr>
      </p:sp>
      <p:sp>
        <p:nvSpPr>
          <p:cNvPr id="12" name="circulo MdDescription"/>
          <p:cNvSpPr/>
          <p:nvPr/>
        </p:nvSpPr>
        <p:spPr>
          <a:xfrm>
            <a:off x="1014984" y="329184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icone MdDescripti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392424"/>
            <a:ext cx="301752" cy="30175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55064" y="32004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contrato_FINAL.docx</a:t>
            </a:r>
            <a:endParaRPr lang="en-US" sz="1500" dirty="0"/>
          </a:p>
        </p:txBody>
      </p:sp>
      <p:sp>
        <p:nvSpPr>
          <p:cNvPr id="15" name="arquivo 3"/>
          <p:cNvSpPr/>
          <p:nvPr/>
        </p:nvSpPr>
        <p:spPr>
          <a:xfrm>
            <a:off x="1042416" y="4069080"/>
            <a:ext cx="603504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/>
        </p:spPr>
      </p:sp>
      <p:sp>
        <p:nvSpPr>
          <p:cNvPr id="16" name="circulo MdDescription"/>
          <p:cNvSpPr/>
          <p:nvPr/>
        </p:nvSpPr>
        <p:spPr>
          <a:xfrm>
            <a:off x="1179576" y="416052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7" name="icone MdDescripti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4261104"/>
            <a:ext cx="301752" cy="30175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819656" y="406908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contrato_FINAL_v3_revisado.docx</a:t>
            </a:r>
            <a:endParaRPr lang="en-US" sz="1500" dirty="0"/>
          </a:p>
        </p:txBody>
      </p:sp>
      <p:sp>
        <p:nvSpPr>
          <p:cNvPr id="19" name="arquivo 4"/>
          <p:cNvSpPr/>
          <p:nvPr/>
        </p:nvSpPr>
        <p:spPr>
          <a:xfrm>
            <a:off x="1207008" y="4937760"/>
            <a:ext cx="603504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/>
        </p:spPr>
      </p:sp>
      <p:sp>
        <p:nvSpPr>
          <p:cNvPr id="20" name="circulo MdDescription"/>
          <p:cNvSpPr/>
          <p:nvPr/>
        </p:nvSpPr>
        <p:spPr>
          <a:xfrm>
            <a:off x="1344168" y="502920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1" name="icone MdDescripti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4752" y="5129784"/>
            <a:ext cx="301752" cy="30175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984248" y="493776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contrato_FINAL_v3_JOAO_agora_vai.docx</a:t>
            </a:r>
            <a:endParaRPr lang="en-US" sz="1500" dirty="0"/>
          </a:p>
        </p:txBody>
      </p:sp>
      <p:sp>
        <p:nvSpPr>
          <p:cNvPr id="23" name="perguntas"/>
          <p:cNvSpPr/>
          <p:nvPr/>
        </p:nvSpPr>
        <p:spPr>
          <a:xfrm>
            <a:off x="7315200" y="1463040"/>
            <a:ext cx="4297680" cy="4206240"/>
          </a:xfrm>
          <a:prstGeom prst="roundRect">
            <a:avLst>
              <a:gd name="adj" fmla="val 2609"/>
            </a:avLst>
          </a:prstGeom>
          <a:solidFill>
            <a:schemeClr val="accent5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589520" y="16916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Ninguém consegue responder</a:t>
            </a:r>
            <a:endParaRPr lang="en-US" sz="1800" dirty="0"/>
          </a:p>
        </p:txBody>
      </p:sp>
      <p:sp>
        <p:nvSpPr>
          <p:cNvPr id="25" name="numero 1"/>
          <p:cNvSpPr txBox="1"/>
          <p:nvPr/>
        </p:nvSpPr>
        <p:spPr>
          <a:xfrm>
            <a:off x="7589520" y="23317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8183880" y="22860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Qual é a versão que vale?</a:t>
            </a:r>
            <a:endParaRPr lang="en-US" sz="1600" dirty="0"/>
          </a:p>
        </p:txBody>
      </p:sp>
      <p:sp>
        <p:nvSpPr>
          <p:cNvPr id="27" name="numero 2"/>
          <p:cNvSpPr txBox="1"/>
          <p:nvPr/>
        </p:nvSpPr>
        <p:spPr>
          <a:xfrm>
            <a:off x="7589520" y="313639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8183880" y="30906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Quem mudou a cláusula 7, quando e por quê?</a:t>
            </a:r>
            <a:endParaRPr lang="en-US" sz="1600" dirty="0"/>
          </a:p>
        </p:txBody>
      </p:sp>
      <p:sp>
        <p:nvSpPr>
          <p:cNvPr id="29" name="numero 3"/>
          <p:cNvSpPr txBox="1"/>
          <p:nvPr/>
        </p:nvSpPr>
        <p:spPr>
          <a:xfrm>
            <a:off x="7589520" y="3941064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30" name="Text 23"/>
          <p:cNvSpPr txBox="1"/>
          <p:nvPr/>
        </p:nvSpPr>
        <p:spPr>
          <a:xfrm>
            <a:off x="8183880" y="389534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correção do jurídico entrou na versão assinada?</a:t>
            </a:r>
            <a:endParaRPr lang="en-US" sz="1600" dirty="0"/>
          </a:p>
        </p:txBody>
      </p:sp>
      <p:sp>
        <p:nvSpPr>
          <p:cNvPr id="31" name="numero 4"/>
          <p:cNvSpPr txBox="1"/>
          <p:nvPr/>
        </p:nvSpPr>
        <p:spPr>
          <a:xfrm>
            <a:off x="7589520" y="4745736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8183880" y="470001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Dá para voltar à versão de antes?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O Git guarda cada versão, rubricada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Cada vez que alguém salva uma mudança no Git, nasce um commit: uma versão registrada, com quatro informações que nunca mais se perdem.</a:t>
            </a:r>
            <a:endParaRPr lang="en-US" sz="1800" dirty="0"/>
          </a:p>
        </p:txBody>
      </p:sp>
      <p:sp>
        <p:nvSpPr>
          <p:cNvPr id="4" name="commit Quem"/>
          <p:cNvSpPr/>
          <p:nvPr/>
        </p:nvSpPr>
        <p:spPr>
          <a:xfrm>
            <a:off x="548640" y="2286000"/>
            <a:ext cx="2624328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/>
        </p:spPr>
      </p:sp>
      <p:sp>
        <p:nvSpPr>
          <p:cNvPr id="5" name="circulo MdPerson"/>
          <p:cNvSpPr/>
          <p:nvPr/>
        </p:nvSpPr>
        <p:spPr>
          <a:xfrm>
            <a:off x="822960" y="25146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e MdPers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660904"/>
            <a:ext cx="43891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383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Quem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Ana Souza</a:t>
            </a:r>
            <a:endParaRPr lang="en-US" sz="1500" dirty="0"/>
          </a:p>
        </p:txBody>
      </p:sp>
      <p:sp>
        <p:nvSpPr>
          <p:cNvPr id="9" name="commit Quando"/>
          <p:cNvSpPr/>
          <p:nvPr/>
        </p:nvSpPr>
        <p:spPr>
          <a:xfrm>
            <a:off x="3355848" y="2286000"/>
            <a:ext cx="2624328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/>
        </p:spPr>
      </p:sp>
      <p:sp>
        <p:nvSpPr>
          <p:cNvPr id="10" name="circulo MdSchedule"/>
          <p:cNvSpPr/>
          <p:nvPr/>
        </p:nvSpPr>
        <p:spPr>
          <a:xfrm>
            <a:off x="3630168" y="25146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e MdSchedul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472" y="266090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30168" y="3383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Quando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3630168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12/10, 15h42</a:t>
            </a:r>
            <a:endParaRPr lang="en-US" sz="1500" dirty="0"/>
          </a:p>
        </p:txBody>
      </p:sp>
      <p:sp>
        <p:nvSpPr>
          <p:cNvPr id="14" name="commit O quê"/>
          <p:cNvSpPr/>
          <p:nvPr/>
        </p:nvSpPr>
        <p:spPr>
          <a:xfrm>
            <a:off x="6163056" y="2286000"/>
            <a:ext cx="2624328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/>
        </p:spPr>
      </p:sp>
      <p:sp>
        <p:nvSpPr>
          <p:cNvPr id="15" name="circulo MdEditNote"/>
          <p:cNvSpPr/>
          <p:nvPr/>
        </p:nvSpPr>
        <p:spPr>
          <a:xfrm>
            <a:off x="6437376" y="25146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e MdEditNot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66090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37376" y="3383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 quê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6437376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cláusula 7, multa por atraso</a:t>
            </a:r>
            <a:endParaRPr lang="en-US" sz="1500" dirty="0"/>
          </a:p>
        </p:txBody>
      </p:sp>
      <p:sp>
        <p:nvSpPr>
          <p:cNvPr id="19" name="commit Por quê"/>
          <p:cNvSpPr/>
          <p:nvPr/>
        </p:nvSpPr>
        <p:spPr>
          <a:xfrm>
            <a:off x="8970264" y="2286000"/>
            <a:ext cx="2624328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/>
        </p:spPr>
      </p:sp>
      <p:sp>
        <p:nvSpPr>
          <p:cNvPr id="20" name="circulo MdChat"/>
          <p:cNvSpPr/>
          <p:nvPr/>
        </p:nvSpPr>
        <p:spPr>
          <a:xfrm>
            <a:off x="9244584" y="25146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cone MdChat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888" y="2660904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44584" y="3383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Por quê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9244584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multa de 2% pedida pelo jurídico</a:t>
            </a:r>
            <a:endParaRPr lang="en-US" sz="1500" dirty="0"/>
          </a:p>
        </p:txBody>
      </p:sp>
      <p:sp>
        <p:nvSpPr>
          <p:cNvPr id="24" name="carimbo"/>
          <p:cNvSpPr txBox="1"/>
          <p:nvPr/>
        </p:nvSpPr>
        <p:spPr>
          <a:xfrm rot="-120000">
            <a:off x="548640" y="5074920"/>
            <a:ext cx="3657600" cy="457200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 = versão rubricada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4572000" y="498348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Repositório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é a pasta do contrato com todas as versões, para sempre. Dá para comparar duas versões e voltar a qualquer uma.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O que o GitFlow responde</a:t>
            </a:r>
            <a:endParaRPr lang="en-US" sz="3200" dirty="0"/>
          </a:p>
        </p:txBody>
      </p:sp>
      <p:sp>
        <p:nvSpPr>
          <p:cNvPr id="3" name="pergunta 1"/>
          <p:cNvSpPr/>
          <p:nvPr/>
        </p:nvSpPr>
        <p:spPr>
          <a:xfrm>
            <a:off x="548640" y="1463040"/>
            <a:ext cx="5440680" cy="402336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73736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Qual versão vale?</a:t>
            </a:r>
            <a:endParaRPr lang="en-US" sz="2400" dirty="0"/>
          </a:p>
        </p:txBody>
      </p:sp>
      <p:sp>
        <p:nvSpPr>
          <p:cNvPr id="5" name="traco"/>
          <p:cNvSpPr/>
          <p:nvPr/>
        </p:nvSpPr>
        <p:spPr>
          <a:xfrm>
            <a:off x="868680" y="3063240"/>
            <a:ext cx="1097280" cy="7315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333756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 da linha principal, a main. Sempre. O que está nela é o que está em produção, com o cliente.</a:t>
            </a:r>
            <a:endParaRPr lang="en-US" sz="1900" dirty="0"/>
          </a:p>
        </p:txBody>
      </p:sp>
      <p:sp>
        <p:nvSpPr>
          <p:cNvPr id="7" name="pergunta 2"/>
          <p:cNvSpPr/>
          <p:nvPr/>
        </p:nvSpPr>
        <p:spPr>
          <a:xfrm>
            <a:off x="6172200" y="1463040"/>
            <a:ext cx="5440680" cy="402336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92240" y="173736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Como várias pessoas mudam ao mesmo tempo sem atropelar?</a:t>
            </a:r>
            <a:endParaRPr lang="en-US" sz="2400" dirty="0"/>
          </a:p>
        </p:txBody>
      </p:sp>
      <p:sp>
        <p:nvSpPr>
          <p:cNvPr id="9" name="traco"/>
          <p:cNvSpPr/>
          <p:nvPr/>
        </p:nvSpPr>
        <p:spPr>
          <a:xfrm>
            <a:off x="6492240" y="3063240"/>
            <a:ext cx="1097280" cy="7315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333756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Cada mudança anda no seu trilho, separada, e só se junta à linha principal por um caminho com regras.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7150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GitFlow é um modelo de mercado para organizar as branches. O Modelo VIC o adota como regra (Diretriz 2).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Duas lentes, a mesma ideia</a:t>
            </a:r>
            <a:endParaRPr lang="en-US" sz="3200" dirty="0"/>
          </a:p>
        </p:txBody>
      </p:sp>
      <p:sp>
        <p:nvSpPr>
          <p:cNvPr id="3" name="lente A ferrovia"/>
          <p:cNvSpPr/>
          <p:nvPr/>
        </p:nvSpPr>
        <p:spPr>
          <a:xfrm>
            <a:off x="548640" y="1463040"/>
            <a:ext cx="5440680" cy="3108960"/>
          </a:xfrm>
          <a:prstGeom prst="roundRect">
            <a:avLst>
              <a:gd name="adj" fmla="val 3529"/>
            </a:avLst>
          </a:prstGeom>
          <a:solidFill>
            <a:schemeClr val="bg1"/>
          </a:solidFill>
          <a:ln/>
        </p:spPr>
      </p:sp>
      <p:sp>
        <p:nvSpPr>
          <p:cNvPr id="4" name="circulo MdTrain"/>
          <p:cNvSpPr/>
          <p:nvPr/>
        </p:nvSpPr>
        <p:spPr>
          <a:xfrm>
            <a:off x="868680" y="173736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e MdTrai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9202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011680" y="1737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A ferrovia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2011680" y="2240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6"/>
                </a:solidFill>
              </a:rPr>
              <a:t>mostra o como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92608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Por onde cada mudança anda, onde se separa e onde volta a se juntar. É a lente para desenhar.</a:t>
            </a:r>
            <a:endParaRPr lang="en-US" sz="1800" dirty="0"/>
          </a:p>
        </p:txBody>
      </p:sp>
      <p:sp>
        <p:nvSpPr>
          <p:cNvPr id="9" name="lente O contrato"/>
          <p:cNvSpPr/>
          <p:nvPr/>
        </p:nvSpPr>
        <p:spPr>
          <a:xfrm>
            <a:off x="6172200" y="1463040"/>
            <a:ext cx="5440680" cy="3108960"/>
          </a:xfrm>
          <a:prstGeom prst="roundRect">
            <a:avLst>
              <a:gd name="adj" fmla="val 3529"/>
            </a:avLst>
          </a:prstGeom>
          <a:solidFill>
            <a:schemeClr val="bg1"/>
          </a:solidFill>
          <a:ln/>
        </p:spPr>
      </p:sp>
      <p:sp>
        <p:nvSpPr>
          <p:cNvPr id="10" name="circulo MdGavel"/>
          <p:cNvSpPr/>
          <p:nvPr/>
        </p:nvSpPr>
        <p:spPr>
          <a:xfrm>
            <a:off x="6492240" y="173736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cone MdGavel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92024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35240" y="1737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O contrato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7635240" y="2240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6"/>
                </a:solidFill>
              </a:rPr>
              <a:t>explica o porquê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6492240" y="292608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Qual versão vale, quem aprova, e o que não pode se perder no caminho. É a lente para decidir.</a:t>
            </a:r>
            <a:endParaRPr lang="en-US" sz="1800" dirty="0"/>
          </a:p>
        </p:txBody>
      </p:sp>
      <p:sp>
        <p:nvSpPr>
          <p:cNvPr id="15" name="regulamento"/>
          <p:cNvSpPr/>
          <p:nvPr/>
        </p:nvSpPr>
        <p:spPr>
          <a:xfrm>
            <a:off x="548640" y="4800600"/>
            <a:ext cx="11064240" cy="1188720"/>
          </a:xfrm>
          <a:prstGeom prst="roundRect">
            <a:avLst>
              <a:gd name="adj" fmla="val 9231"/>
            </a:avLst>
          </a:prstGeom>
          <a:solidFill>
            <a:schemeClr val="accent5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822960" y="48006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GitFlow é o regulamento da ferrovia: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diz quais trilhos existem, de onde cada um sai, para onde vai e quem libera a passagem.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chemeClr val="accent2"/>
                </a:solidFill>
              </a:rPr>
              <a:t>2</a:t>
            </a:r>
            <a:endParaRPr lang="en-US" sz="9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9260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 malha ferroviária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690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Cinco trilhos, cada um com a sua função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Trilho, estação, desvio e entroncamento</a:t>
            </a:r>
            <a:endParaRPr lang="en-US" sz="3200" dirty="0"/>
          </a:p>
        </p:txBody>
      </p:sp>
      <p:sp>
        <p:nvSpPr>
          <p:cNvPr id="3" name="fundo figura"/>
          <p:cNvSpPr/>
          <p:nvPr/>
        </p:nvSpPr>
        <p:spPr>
          <a:xfrm>
            <a:off x="548640" y="1280160"/>
            <a:ext cx="11064240" cy="342900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/>
        </p:spPr>
      </p:sp>
      <p:pic>
        <p:nvPicPr>
          <p:cNvPr id="4" name="figura desvio" descr="Um trilho com estações, um desvio que sai e volta por um entroncamen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325880"/>
            <a:ext cx="9235440" cy="303450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92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Trilho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branch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303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ferrovia: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uma linha de trabalho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760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contrato: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uma cópia de trabalho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355848" y="4892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Estação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commit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3355848" y="5303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ferrovia: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uma parada registrada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355848" y="5760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contrato: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uma versão rubricada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163056" y="4892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Desvio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nova branch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163056" y="5303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ferrovia: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sai para trabalhar sem fechar a linha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163056" y="5760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contrato: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uma cópia separada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970264" y="4892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Entroncamento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merge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970264" y="5303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ferrovia: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onde o desvio volta para a linha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970264" y="5760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contrato: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cópia incorporada ao original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Dois trilhos permanentes</a:t>
            </a:r>
            <a:endParaRPr lang="en-US" sz="3200" dirty="0"/>
          </a:p>
        </p:txBody>
      </p:sp>
      <p:sp>
        <p:nvSpPr>
          <p:cNvPr id="3" name="cartao main"/>
          <p:cNvSpPr/>
          <p:nvPr/>
        </p:nvSpPr>
        <p:spPr>
          <a:xfrm>
            <a:off x="548640" y="1417320"/>
            <a:ext cx="5440680" cy="4160520"/>
          </a:xfrm>
          <a:prstGeom prst="roundRect">
            <a:avLst>
              <a:gd name="adj" fmla="val 2637"/>
            </a:avLst>
          </a:prstGeom>
          <a:solidFill>
            <a:schemeClr val="bg1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4" name="faixa main"/>
          <p:cNvSpPr txBox="1"/>
          <p:nvPr/>
        </p:nvSpPr>
        <p:spPr>
          <a:xfrm>
            <a:off x="548640" y="1417320"/>
            <a:ext cx="5440680" cy="4572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A linha em operação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Ferrovia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Só passa trem vistoriado.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4747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Contrato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 contrato assinado, em vigor.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2062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Sistema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É o que está em produção: o que o cliente usa hoje.</a:t>
            </a:r>
            <a:endParaRPr lang="en-US" sz="1700" dirty="0"/>
          </a:p>
        </p:txBody>
      </p:sp>
      <p:sp>
        <p:nvSpPr>
          <p:cNvPr id="9" name="cartao develop"/>
          <p:cNvSpPr/>
          <p:nvPr/>
        </p:nvSpPr>
        <p:spPr>
          <a:xfrm>
            <a:off x="6172200" y="1417320"/>
            <a:ext cx="5440680" cy="4160520"/>
          </a:xfrm>
          <a:prstGeom prst="roundRect">
            <a:avLst>
              <a:gd name="adj" fmla="val 2637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0" name="faixa develop"/>
          <p:cNvSpPr txBox="1"/>
          <p:nvPr/>
        </p:nvSpPr>
        <p:spPr>
          <a:xfrm>
            <a:off x="6172200" y="1417320"/>
            <a:ext cx="5440680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103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A linha da próxima composição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743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Ferrovia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Onde se junta tudo o que já ficou pronto.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4747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Contrato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minuta consolidada da próxima versão.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2062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Sistema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É o que vai para a próxima entrega.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Os dois existem sempre e são protegidos: ninguém mexe neles direto (Diretrizes 2 e 7).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Três trilhos temporários</a:t>
            </a:r>
            <a:endParaRPr lang="en-US" sz="3200" dirty="0"/>
          </a:p>
        </p:txBody>
      </p:sp>
      <p:sp>
        <p:nvSpPr>
          <p:cNvPr id="3" name="cartao feature/*"/>
          <p:cNvSpPr/>
          <p:nvPr/>
        </p:nvSpPr>
        <p:spPr>
          <a:xfrm>
            <a:off x="548640" y="1417320"/>
            <a:ext cx="3566160" cy="434340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4" name="faixa feature/*"/>
          <p:cNvSpPr txBox="1"/>
          <p:nvPr/>
        </p:nvSpPr>
        <p:spPr>
          <a:xfrm>
            <a:off x="548640" y="1417320"/>
            <a:ext cx="3566160" cy="45720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feature/*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57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Desvio de obra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Ferrovia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Cada equipe constrói o seu trecho sem fechar a linha.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661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Contrato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Cada área redige a sua cláusula numa cópia.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937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 → develop</a:t>
            </a:r>
            <a:endParaRPr lang="en-US" sz="1500" dirty="0"/>
          </a:p>
        </p:txBody>
      </p:sp>
      <p:sp>
        <p:nvSpPr>
          <p:cNvPr id="9" name="cartao release/*"/>
          <p:cNvSpPr/>
          <p:nvPr/>
        </p:nvSpPr>
        <p:spPr>
          <a:xfrm>
            <a:off x="4297680" y="1417320"/>
            <a:ext cx="3566160" cy="434340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0" name="faixa release/*"/>
          <p:cNvSpPr txBox="1"/>
          <p:nvPr/>
        </p:nvSpPr>
        <p:spPr>
          <a:xfrm>
            <a:off x="4297680" y="1417320"/>
            <a:ext cx="3566160" cy="45720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release/*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057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Pátio de vistoria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6060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Ferrovia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composição para; só entra correção.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5661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Contrato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versão para assinatura: congelada, só correção de redação.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4937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 → main e develop</a:t>
            </a:r>
            <a:endParaRPr lang="en-US" sz="1500" dirty="0"/>
          </a:p>
        </p:txBody>
      </p:sp>
      <p:sp>
        <p:nvSpPr>
          <p:cNvPr id="15" name="cartao hotfix/*"/>
          <p:cNvSpPr/>
          <p:nvPr/>
        </p:nvSpPr>
        <p:spPr>
          <a:xfrm>
            <a:off x="8046720" y="1417320"/>
            <a:ext cx="3566160" cy="434340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25400">
            <a:solidFill>
              <a:schemeClr val="accent4"/>
            </a:solidFill>
            <a:prstDash val="solid"/>
          </a:ln>
        </p:spPr>
      </p:sp>
      <p:sp>
        <p:nvSpPr>
          <p:cNvPr id="16" name="faixa hotfix/*"/>
          <p:cNvSpPr txBox="1"/>
          <p:nvPr/>
        </p:nvSpPr>
        <p:spPr>
          <a:xfrm>
            <a:off x="8046720" y="1417320"/>
            <a:ext cx="3566160" cy="45720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hotfix/*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057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Desvio de emergência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6060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Ferrovia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Conserto na linha que está em operação.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5661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Contrato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aditivo urgente sobre o contrato vigente.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4937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→ main e develop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Temporário quer dizer: depois de juntar, o desvio é desmontado (Diretriz 3).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A malha completa</a:t>
            </a:r>
            <a:endParaRPr lang="en-US" sz="3200" dirty="0"/>
          </a:p>
        </p:txBody>
      </p:sp>
      <p:pic>
        <p:nvPicPr>
          <p:cNvPr id="3" name="figura malha" descr="A malha do GitFlow com os cinco trilhos e as placas de versão na ma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188720"/>
            <a:ext cx="10424160" cy="49488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De onde sai, para onde vai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645920"/>
                <a:gridCol w="2377440"/>
                <a:gridCol w="34747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Trilho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Dura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Sai de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Vai para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contrato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main</a:t>
                      </a:r>
                      <a:endParaRPr lang="en-US" sz="1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sempre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 contrato vigente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develop</a:t>
                      </a:r>
                      <a:endParaRPr lang="en-US" sz="1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sempre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minuta consolidada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feature/*</a:t>
                      </a:r>
                      <a:endParaRPr lang="en-US" sz="1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temporário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develop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develop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cláusula em redação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release/*</a:t>
                      </a:r>
                      <a:endParaRPr lang="en-US" sz="1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temporário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develop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e develop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versão para assinatura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hotfix/*</a:t>
                      </a:r>
                      <a:endParaRPr lang="en-US" sz="1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temporário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e develop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 aditivo urgente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regra de ouro"/>
          <p:cNvSpPr/>
          <p:nvPr/>
        </p:nvSpPr>
        <p:spPr>
          <a:xfrm>
            <a:off x="548640" y="516636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accent5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516636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Regra de ouro: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tudo o que entra na main volta para a develop. Senão, a próxima versão desfaz o que foi corrigido.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O nome diz o trilho</a:t>
            </a:r>
            <a:endParaRPr lang="en-US" sz="3200" dirty="0"/>
          </a:p>
        </p:txBody>
      </p:sp>
      <p:sp>
        <p:nvSpPr>
          <p:cNvPr id="3" name="cor main"/>
          <p:cNvSpPr/>
          <p:nvPr/>
        </p:nvSpPr>
        <p:spPr>
          <a:xfrm>
            <a:off x="548640" y="1463040"/>
            <a:ext cx="109728" cy="5486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297680" y="1463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 linha em operação</a:t>
            </a:r>
            <a:endParaRPr lang="en-US" sz="1600" dirty="0"/>
          </a:p>
        </p:txBody>
      </p:sp>
      <p:sp>
        <p:nvSpPr>
          <p:cNvPr id="6" name="cor develop"/>
          <p:cNvSpPr/>
          <p:nvPr/>
        </p:nvSpPr>
        <p:spPr>
          <a:xfrm>
            <a:off x="548640" y="2176272"/>
            <a:ext cx="109728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17627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21762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 próxima composição</a:t>
            </a:r>
            <a:endParaRPr lang="en-US" sz="1600" dirty="0"/>
          </a:p>
        </p:txBody>
      </p:sp>
      <p:sp>
        <p:nvSpPr>
          <p:cNvPr id="9" name="cor feature/assinatura"/>
          <p:cNvSpPr/>
          <p:nvPr/>
        </p:nvSpPr>
        <p:spPr>
          <a:xfrm>
            <a:off x="548640" y="2889504"/>
            <a:ext cx="109728" cy="54864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88950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feature/assinatura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288950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 obra da assinatura digital</a:t>
            </a:r>
            <a:endParaRPr lang="en-US" sz="1600" dirty="0"/>
          </a:p>
        </p:txBody>
      </p:sp>
      <p:sp>
        <p:nvSpPr>
          <p:cNvPr id="12" name="cor release/2.4.0"/>
          <p:cNvSpPr/>
          <p:nvPr/>
        </p:nvSpPr>
        <p:spPr>
          <a:xfrm>
            <a:off x="548640" y="3602736"/>
            <a:ext cx="109728" cy="5486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60273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release/2.4.0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360273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 vistoria da versão 2.4.0</a:t>
            </a:r>
            <a:endParaRPr lang="en-US" sz="1600" dirty="0"/>
          </a:p>
        </p:txBody>
      </p:sp>
      <p:sp>
        <p:nvSpPr>
          <p:cNvPr id="15" name="cor hotfix/2.4.1"/>
          <p:cNvSpPr/>
          <p:nvPr/>
        </p:nvSpPr>
        <p:spPr>
          <a:xfrm>
            <a:off x="548640" y="4315968"/>
            <a:ext cx="109728" cy="54864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3159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hotfix/2.4.1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43159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 emergência que gera a 2.4.1</a:t>
            </a:r>
            <a:endParaRPr lang="en-US" sz="1600" dirty="0"/>
          </a:p>
        </p:txBody>
      </p:sp>
      <p:sp>
        <p:nvSpPr>
          <p:cNvPr id="18" name="placa"/>
          <p:cNvSpPr/>
          <p:nvPr/>
        </p:nvSpPr>
        <p:spPr>
          <a:xfrm>
            <a:off x="7406640" y="1463040"/>
            <a:ext cx="4206240" cy="347472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680960" y="1691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 placa da estação</a:t>
            </a:r>
            <a:endParaRPr lang="en-US" sz="2000" dirty="0"/>
          </a:p>
        </p:txBody>
      </p:sp>
      <p:sp>
        <p:nvSpPr>
          <p:cNvPr id="20" name="placa tag"/>
          <p:cNvSpPr/>
          <p:nvPr/>
        </p:nvSpPr>
        <p:spPr>
          <a:xfrm>
            <a:off x="8092440" y="2331720"/>
            <a:ext cx="283464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92440" y="23317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v2.4.0.118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7680960" y="32004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Cada estação da main que vai para produção ganha uma placa: a tag, com o número da versão. Sem placa, não vai para produção (Diretriz 10).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25780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Pelo nome, qualquer pessoa sabe o que o trilho é e para onde vai. Os nomes seguem a Diretriz 11.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Dinâmica 1 · Qual trilho?</a:t>
            </a:r>
            <a:endParaRPr lang="en-US" sz="3200" dirty="0"/>
          </a:p>
        </p:txBody>
      </p:sp>
      <p:sp>
        <p:nvSpPr>
          <p:cNvPr id="3" name="numero 1"/>
          <p:cNvSpPr txBox="1"/>
          <p:nvPr/>
        </p:nvSpPr>
        <p:spPr>
          <a:xfrm>
            <a:off x="548640" y="15544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150876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Nas salas, em grupos de 4 ou 5. Cada grupo tem um quadro com cinco trilhos e um canto "Não pode!".</a:t>
            </a:r>
            <a:endParaRPr lang="en-US" sz="1800" dirty="0"/>
          </a:p>
        </p:txBody>
      </p:sp>
      <p:sp>
        <p:nvSpPr>
          <p:cNvPr id="5" name="numero 2"/>
          <p:cNvSpPr txBox="1"/>
          <p:nvPr/>
        </p:nvSpPr>
        <p:spPr>
          <a:xfrm>
            <a:off x="548640" y="25146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4688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São 12 cartas com situações do dia a dia de um sistema. Arraste cada carta para o trilho onde ela acontece.</a:t>
            </a:r>
            <a:endParaRPr lang="en-US" sz="1800" dirty="0"/>
          </a:p>
        </p:txBody>
      </p:sp>
      <p:sp>
        <p:nvSpPr>
          <p:cNvPr id="7" name="numero 3"/>
          <p:cNvSpPr txBox="1"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34290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Em cada carta, cole uma etiqueta: de onde o trilho sai e para onde vai.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663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12 min nas salas · 8 min de conversa</a:t>
            </a:r>
            <a:endParaRPr lang="en-US" sz="1800" dirty="0"/>
          </a:p>
        </p:txBody>
      </p:sp>
      <p:sp>
        <p:nvSpPr>
          <p:cNvPr id="10" name="carta exemplo 0"/>
          <p:cNvSpPr/>
          <p:nvPr/>
        </p:nvSpPr>
        <p:spPr>
          <a:xfrm>
            <a:off x="7498080" y="1463040"/>
            <a:ext cx="384048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26680" y="14630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Desde ontem, o app em produção cobra a tarifa em dobro</a:t>
            </a:r>
            <a:endParaRPr lang="en-US" sz="1600" dirty="0"/>
          </a:p>
        </p:txBody>
      </p:sp>
      <p:sp>
        <p:nvSpPr>
          <p:cNvPr id="12" name="carta exemplo 1"/>
          <p:cNvSpPr/>
          <p:nvPr/>
        </p:nvSpPr>
        <p:spPr>
          <a:xfrm>
            <a:off x="7726680" y="2926080"/>
            <a:ext cx="384048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55280" y="292608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 versão 2.4 vai para a homologação; daqui em diante, só correção</a:t>
            </a:r>
            <a:endParaRPr lang="en-US" sz="1600" dirty="0"/>
          </a:p>
        </p:txBody>
      </p:sp>
      <p:sp>
        <p:nvSpPr>
          <p:cNvPr id="14" name="carta exemplo 2"/>
          <p:cNvSpPr/>
          <p:nvPr/>
        </p:nvSpPr>
        <p:spPr>
          <a:xfrm>
            <a:off x="7498080" y="4389120"/>
            <a:ext cx="384048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26680" y="438912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Os clientes vão poder simular um empréstimo no app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9260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Intervalo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690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Voltamos em 10 minutos, para juntar os trilhos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chemeClr val="accent2"/>
                </a:solidFill>
              </a:rPr>
              <a:t>3</a:t>
            </a:r>
            <a:endParaRPr lang="en-US" sz="9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9260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Os tipos de merge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690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Quatro jeitos de juntar trilhos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Antes de juntar: a linha andou?</a:t>
            </a:r>
            <a:endParaRPr lang="en-US" sz="3200" dirty="0"/>
          </a:p>
        </p:txBody>
      </p:sp>
      <p:sp>
        <p:nvSpPr>
          <p:cNvPr id="3" name="lado Não andou"/>
          <p:cNvSpPr/>
          <p:nvPr/>
        </p:nvSpPr>
        <p:spPr>
          <a:xfrm>
            <a:off x="548640" y="1417320"/>
            <a:ext cx="5440680" cy="3931920"/>
          </a:xfrm>
          <a:prstGeom prst="roundRect">
            <a:avLst>
              <a:gd name="adj" fmla="val 2791"/>
            </a:avLst>
          </a:prstGeom>
          <a:solidFill>
            <a:schemeClr val="bg1"/>
          </a:solidFill>
          <a:ln/>
        </p:spPr>
      </p:sp>
      <p:pic>
        <p:nvPicPr>
          <p:cNvPr id="4" name="figura merge-antes-ff" descr="merge-antes-f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5074920" cy="199371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3657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Não andou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41148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Ninguém mexeu na develop desde que o desvio saiu de B. Dá para só seguir em frente.</a:t>
            </a:r>
            <a:endParaRPr lang="en-US" sz="1700" dirty="0"/>
          </a:p>
        </p:txBody>
      </p:sp>
      <p:sp>
        <p:nvSpPr>
          <p:cNvPr id="7" name="lado Andou"/>
          <p:cNvSpPr/>
          <p:nvPr/>
        </p:nvSpPr>
        <p:spPr>
          <a:xfrm>
            <a:off x="6172200" y="1417320"/>
            <a:ext cx="5440680" cy="3931920"/>
          </a:xfrm>
          <a:prstGeom prst="roundRect">
            <a:avLst>
              <a:gd name="adj" fmla="val 2791"/>
            </a:avLst>
          </a:prstGeom>
          <a:solidFill>
            <a:schemeClr val="bg1"/>
          </a:solidFill>
          <a:ln/>
        </p:spPr>
      </p:sp>
      <p:pic>
        <p:nvPicPr>
          <p:cNvPr id="8" name="figura merge-antes" descr="merge-ant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554480"/>
            <a:ext cx="5074920" cy="199371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92240" y="3657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Andou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41148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Enquanto o desvio estava em obras, a develop recebeu C. É preciso escolher como juntar.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No contrato: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alguém mexeu na minuta desde que você pegou a sua cópia?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Fast-forward: só seguir em frente</a:t>
            </a:r>
            <a:endParaRPr lang="en-US" sz="3200" dirty="0"/>
          </a:p>
        </p:txBody>
      </p:sp>
      <p:sp>
        <p:nvSpPr>
          <p:cNvPr id="3" name="fundo figura"/>
          <p:cNvSpPr/>
          <p:nvPr/>
        </p:nvSpPr>
        <p:spPr>
          <a:xfrm>
            <a:off x="548640" y="1417320"/>
            <a:ext cx="5669280" cy="3931920"/>
          </a:xfrm>
          <a:prstGeom prst="roundRect">
            <a:avLst>
              <a:gd name="adj" fmla="val 2791"/>
            </a:avLst>
          </a:prstGeom>
          <a:solidFill>
            <a:schemeClr val="bg1"/>
          </a:solidFill>
          <a:ln/>
        </p:spPr>
      </p:sp>
      <p:pic>
        <p:nvPicPr>
          <p:cNvPr id="4" name="figura merge-ff" descr="merge-f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11680"/>
            <a:ext cx="5394960" cy="2119449"/>
          </a:xfrm>
          <a:prstGeom prst="rect">
            <a:avLst/>
          </a:prstGeom>
        </p:spPr>
      </p:pic>
      <p:sp>
        <p:nvSpPr>
          <p:cNvPr id="5" name="barra Na ferrovia"/>
          <p:cNvSpPr/>
          <p:nvPr/>
        </p:nvSpPr>
        <p:spPr>
          <a:xfrm>
            <a:off x="6537960" y="1417320"/>
            <a:ext cx="73152" cy="10241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766560" y="1417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Na ferrovia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766560" y="1746504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linha não andou: o trem segue em frente e o desvio vira parte da linha. Nenhuma estação nova.</a:t>
            </a:r>
            <a:endParaRPr lang="en-US" sz="1400" dirty="0"/>
          </a:p>
        </p:txBody>
      </p:sp>
      <p:sp>
        <p:nvSpPr>
          <p:cNvPr id="8" name="barra No contrato"/>
          <p:cNvSpPr/>
          <p:nvPr/>
        </p:nvSpPr>
        <p:spPr>
          <a:xfrm>
            <a:off x="6537960" y="2624328"/>
            <a:ext cx="73152" cy="1024128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766560" y="26243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No contrato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766560" y="295351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Ninguém mexeu na minuta desde a sua cópia: a sua cópia passa a ser a minuta.</a:t>
            </a:r>
            <a:endParaRPr lang="en-US" sz="1400" dirty="0"/>
          </a:p>
        </p:txBody>
      </p:sp>
      <p:sp>
        <p:nvSpPr>
          <p:cNvPr id="11" name="barra Fica no histórico"/>
          <p:cNvSpPr/>
          <p:nvPr/>
        </p:nvSpPr>
        <p:spPr>
          <a:xfrm>
            <a:off x="6537960" y="3831336"/>
            <a:ext cx="73152" cy="102412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766560" y="383133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Fica no histórico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766560" y="41605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Uma linha reta: A, B, F1, F2. Não fica registro de que houve um desvio.</a:t>
            </a:r>
            <a:endParaRPr lang="en-US" sz="1400" dirty="0"/>
          </a:p>
        </p:txBody>
      </p:sp>
      <p:sp>
        <p:nvSpPr>
          <p:cNvPr id="14" name="barra Cuidado"/>
          <p:cNvSpPr/>
          <p:nvPr/>
        </p:nvSpPr>
        <p:spPr>
          <a:xfrm>
            <a:off x="6537960" y="5038344"/>
            <a:ext cx="73152" cy="102412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766560" y="503834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Cuidado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766560" y="536752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Só é possível quando a linha não andou. Some a informação de que F1 e F2 eram um bloco de trabalho.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Merge commit: o entroncamento com placa</a:t>
            </a:r>
            <a:endParaRPr lang="en-US" sz="3200" dirty="0"/>
          </a:p>
        </p:txBody>
      </p:sp>
      <p:sp>
        <p:nvSpPr>
          <p:cNvPr id="3" name="fundo figura"/>
          <p:cNvSpPr/>
          <p:nvPr/>
        </p:nvSpPr>
        <p:spPr>
          <a:xfrm>
            <a:off x="548640" y="1417320"/>
            <a:ext cx="5669280" cy="3931920"/>
          </a:xfrm>
          <a:prstGeom prst="roundRect">
            <a:avLst>
              <a:gd name="adj" fmla="val 2791"/>
            </a:avLst>
          </a:prstGeom>
          <a:solidFill>
            <a:schemeClr val="bg1"/>
          </a:solidFill>
          <a:ln/>
        </p:spPr>
      </p:sp>
      <p:pic>
        <p:nvPicPr>
          <p:cNvPr id="4" name="figura merge-commit" descr="merge-comm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11680"/>
            <a:ext cx="5394960" cy="2119449"/>
          </a:xfrm>
          <a:prstGeom prst="rect">
            <a:avLst/>
          </a:prstGeom>
        </p:spPr>
      </p:pic>
      <p:sp>
        <p:nvSpPr>
          <p:cNvPr id="5" name="barra Na ferrovia"/>
          <p:cNvSpPr/>
          <p:nvPr/>
        </p:nvSpPr>
        <p:spPr>
          <a:xfrm>
            <a:off x="6537960" y="1417320"/>
            <a:ext cx="73152" cy="10241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766560" y="1417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Na ferrovia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766560" y="1746504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Constrói-se um entroncamento, a estação M, que liga os dois trilhos. O desvio continua no mapa.</a:t>
            </a:r>
            <a:endParaRPr lang="en-US" sz="1400" dirty="0"/>
          </a:p>
        </p:txBody>
      </p:sp>
      <p:sp>
        <p:nvSpPr>
          <p:cNvPr id="8" name="barra No contrato"/>
          <p:cNvSpPr/>
          <p:nvPr/>
        </p:nvSpPr>
        <p:spPr>
          <a:xfrm>
            <a:off x="6537960" y="2624328"/>
            <a:ext cx="73152" cy="1024128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766560" y="26243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No contrato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766560" y="295351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cláusula entra com todas as versões e uma anotação: "incorporada em 12/10, aprovada por…".</a:t>
            </a:r>
            <a:endParaRPr lang="en-US" sz="1400" dirty="0"/>
          </a:p>
        </p:txBody>
      </p:sp>
      <p:sp>
        <p:nvSpPr>
          <p:cNvPr id="11" name="barra Fica no histórico"/>
          <p:cNvSpPr/>
          <p:nvPr/>
        </p:nvSpPr>
        <p:spPr>
          <a:xfrm>
            <a:off x="6537960" y="3831336"/>
            <a:ext cx="73152" cy="102412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766560" y="383133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Fica no histórico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766560" y="41605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Tudo: A, B, C, F1, F2 e a junção M. Dá para ver quando o desvio saiu e quando voltou.</a:t>
            </a:r>
            <a:endParaRPr lang="en-US" sz="1400" dirty="0"/>
          </a:p>
        </p:txBody>
      </p:sp>
      <p:sp>
        <p:nvSpPr>
          <p:cNvPr id="14" name="barra Cuidado"/>
          <p:cNvSpPr/>
          <p:nvPr/>
        </p:nvSpPr>
        <p:spPr>
          <a:xfrm>
            <a:off x="6537960" y="5038344"/>
            <a:ext cx="73152" cy="102412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766560" y="503834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Cuidado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766560" y="536752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 muitos desvios, o mapa fica trançado e mais difícil de ler.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Squash: junta os vagões</a:t>
            </a:r>
            <a:endParaRPr lang="en-US" sz="3200" dirty="0"/>
          </a:p>
        </p:txBody>
      </p:sp>
      <p:sp>
        <p:nvSpPr>
          <p:cNvPr id="3" name="fundo figura"/>
          <p:cNvSpPr/>
          <p:nvPr/>
        </p:nvSpPr>
        <p:spPr>
          <a:xfrm>
            <a:off x="548640" y="1417320"/>
            <a:ext cx="5669280" cy="3931920"/>
          </a:xfrm>
          <a:prstGeom prst="roundRect">
            <a:avLst>
              <a:gd name="adj" fmla="val 2791"/>
            </a:avLst>
          </a:prstGeom>
          <a:solidFill>
            <a:schemeClr val="bg1"/>
          </a:solidFill>
          <a:ln/>
        </p:spPr>
      </p:sp>
      <p:pic>
        <p:nvPicPr>
          <p:cNvPr id="4" name="figura merge-squash" descr="merge-squa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11680"/>
            <a:ext cx="5394960" cy="2119449"/>
          </a:xfrm>
          <a:prstGeom prst="rect">
            <a:avLst/>
          </a:prstGeom>
        </p:spPr>
      </p:pic>
      <p:sp>
        <p:nvSpPr>
          <p:cNvPr id="5" name="barra Na ferrovia"/>
          <p:cNvSpPr/>
          <p:nvPr/>
        </p:nvSpPr>
        <p:spPr>
          <a:xfrm>
            <a:off x="6537960" y="1417320"/>
            <a:ext cx="73152" cy="10241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766560" y="1417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Na ferrovia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766560" y="1746504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Todas as estações do desvio viram uma só estação na develop. O desvio some do mapa.</a:t>
            </a:r>
            <a:endParaRPr lang="en-US" sz="1400" dirty="0"/>
          </a:p>
        </p:txBody>
      </p:sp>
      <p:sp>
        <p:nvSpPr>
          <p:cNvPr id="8" name="barra No contrato"/>
          <p:cNvSpPr/>
          <p:nvPr/>
        </p:nvSpPr>
        <p:spPr>
          <a:xfrm>
            <a:off x="6537960" y="2624328"/>
            <a:ext cx="73152" cy="1024128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766560" y="26243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No contrato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766560" y="295351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Passar a limpo: entra só o texto final da cláusula, sem os rascunhos.</a:t>
            </a:r>
            <a:endParaRPr lang="en-US" sz="1400" dirty="0"/>
          </a:p>
        </p:txBody>
      </p:sp>
      <p:sp>
        <p:nvSpPr>
          <p:cNvPr id="11" name="barra Fica no histórico"/>
          <p:cNvSpPr/>
          <p:nvPr/>
        </p:nvSpPr>
        <p:spPr>
          <a:xfrm>
            <a:off x="6537960" y="3831336"/>
            <a:ext cx="73152" cy="102412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766560" y="383133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Fica no histórico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766560" y="41605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A, B, C e uma estação nova, F1+F2. As paradas intermediárias não aparecem na linha.</a:t>
            </a:r>
            <a:endParaRPr lang="en-US" sz="1400" dirty="0"/>
          </a:p>
        </p:txBody>
      </p:sp>
      <p:sp>
        <p:nvSpPr>
          <p:cNvPr id="14" name="barra Cuidado"/>
          <p:cNvSpPr/>
          <p:nvPr/>
        </p:nvSpPr>
        <p:spPr>
          <a:xfrm>
            <a:off x="6537960" y="5038344"/>
            <a:ext cx="73152" cy="102412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766560" y="503834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Cuidado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766560" y="536752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Perde o passo a passo. E o desvio não deve ser usado depois: deve ser desmontado.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Rebase: reassenta o desvio</a:t>
            </a:r>
            <a:endParaRPr lang="en-US" sz="3200" dirty="0"/>
          </a:p>
        </p:txBody>
      </p:sp>
      <p:sp>
        <p:nvSpPr>
          <p:cNvPr id="3" name="fundo figura"/>
          <p:cNvSpPr/>
          <p:nvPr/>
        </p:nvSpPr>
        <p:spPr>
          <a:xfrm>
            <a:off x="548640" y="1417320"/>
            <a:ext cx="5669280" cy="3931920"/>
          </a:xfrm>
          <a:prstGeom prst="roundRect">
            <a:avLst>
              <a:gd name="adj" fmla="val 2791"/>
            </a:avLst>
          </a:prstGeom>
          <a:solidFill>
            <a:schemeClr val="bg1"/>
          </a:solidFill>
          <a:ln/>
        </p:spPr>
      </p:sp>
      <p:pic>
        <p:nvPicPr>
          <p:cNvPr id="4" name="figura merge-rebase" descr="merge-re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11680"/>
            <a:ext cx="5394960" cy="2119449"/>
          </a:xfrm>
          <a:prstGeom prst="rect">
            <a:avLst/>
          </a:prstGeom>
        </p:spPr>
      </p:pic>
      <p:sp>
        <p:nvSpPr>
          <p:cNvPr id="5" name="barra Na ferrovia"/>
          <p:cNvSpPr/>
          <p:nvPr/>
        </p:nvSpPr>
        <p:spPr>
          <a:xfrm>
            <a:off x="6537960" y="1417320"/>
            <a:ext cx="73152" cy="10241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766560" y="1417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Na ferrovia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766560" y="1746504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desvio é desmontado e reassentado a partir de C, como se a obra tivesse começado agora.</a:t>
            </a:r>
            <a:endParaRPr lang="en-US" sz="1400" dirty="0"/>
          </a:p>
        </p:txBody>
      </p:sp>
      <p:sp>
        <p:nvSpPr>
          <p:cNvPr id="8" name="barra No contrato"/>
          <p:cNvSpPr/>
          <p:nvPr/>
        </p:nvSpPr>
        <p:spPr>
          <a:xfrm>
            <a:off x="6537960" y="2624328"/>
            <a:ext cx="73152" cy="1024128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766560" y="26243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No contrato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766560" y="295351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Refazer a sua cópia em cima da minuta mais recente, antes de pedir a aprovação.</a:t>
            </a:r>
            <a:endParaRPr lang="en-US" sz="1400" dirty="0"/>
          </a:p>
        </p:txBody>
      </p:sp>
      <p:sp>
        <p:nvSpPr>
          <p:cNvPr id="11" name="barra Fica no histórico"/>
          <p:cNvSpPr/>
          <p:nvPr/>
        </p:nvSpPr>
        <p:spPr>
          <a:xfrm>
            <a:off x="6537960" y="3831336"/>
            <a:ext cx="73152" cy="102412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766560" y="383133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Fica no histórico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766560" y="41605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Uma linha reta. F1′ e F2′ são estações novas: mesmo conteúdo, outra identidade e outra data.</a:t>
            </a:r>
            <a:endParaRPr lang="en-US" sz="1400" dirty="0"/>
          </a:p>
        </p:txBody>
      </p:sp>
      <p:sp>
        <p:nvSpPr>
          <p:cNvPr id="14" name="barra Cuidado"/>
          <p:cNvSpPr/>
          <p:nvPr/>
        </p:nvSpPr>
        <p:spPr>
          <a:xfrm>
            <a:off x="6537960" y="5038344"/>
            <a:ext cx="73152" cy="102412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766560" y="503834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Cuidado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766560" y="536752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Reescreve a história. Nunca num trilho que outras pessoas usam, como a main e a develop.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Lado a lado</a:t>
            </a:r>
            <a:endParaRPr lang="en-US" sz="3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377440"/>
                <a:gridCol w="2377440"/>
                <a:gridCol w="2468880"/>
                <a:gridCol w="192024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Tipo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 histórico mostra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contrato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Bom para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Cuidado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Fast-forward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linha reta, sem desvio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cópia vira a minuta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quando a linha não andou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perde o desenho do desvio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Merge commit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tudo, com a junção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cláusula com todas as versões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rastrear quando e como entrou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mapa trançado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Squash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uma estação por entrega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passar a limpo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desvios com muitas paradas pequenas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perde o passo a passo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Rebase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linha reta, estações novas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refazer sobre a minuta atual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atualizar o próprio desvio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reescreve a história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Todos levam o mesmo conteúdo para a develop. O que muda é a história que fica registrada.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Os botões que você vai ver</a:t>
            </a:r>
            <a:endParaRPr lang="en-US" sz="3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931920"/>
                <a:gridCol w="39319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Tipo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GitHub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Azure DevOps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Merge commit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Create a merge commit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Merge (no fast forward)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Squash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Squash and merge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Squash commit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Rebase + fast-forward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Rebase and merge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Rebase and fast-forward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Rebase + merge commit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Semi-linear merge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quem decide"/>
          <p:cNvSpPr/>
          <p:nvPr/>
        </p:nvSpPr>
        <p:spPr>
          <a:xfrm>
            <a:off x="548640" y="4572000"/>
            <a:ext cx="11064240" cy="1417320"/>
          </a:xfrm>
          <a:prstGeom prst="roundRect">
            <a:avLst>
              <a:gd name="adj" fmla="val 7742"/>
            </a:avLst>
          </a:prstGeom>
          <a:solidFill>
            <a:schemeClr val="accent5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4572000"/>
            <a:ext cx="10607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Quem escolhe o tipo?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política de cada repositório, que pode deixar só alguns botões ligados. No GitFlow original, as junções são merge commit. Na dúvida, pergunte ao Integrador (Diretriz 6).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Conflito: dois trens no mesmo trecho</a:t>
            </a:r>
            <a:endParaRPr lang="en-US" sz="3200" dirty="0"/>
          </a:p>
        </p:txBody>
      </p:sp>
      <p:sp>
        <p:nvSpPr>
          <p:cNvPr id="3" name="fundo figura"/>
          <p:cNvSpPr/>
          <p:nvPr/>
        </p:nvSpPr>
        <p:spPr>
          <a:xfrm>
            <a:off x="548640" y="1417320"/>
            <a:ext cx="5669280" cy="3931920"/>
          </a:xfrm>
          <a:prstGeom prst="roundRect">
            <a:avLst>
              <a:gd name="adj" fmla="val 2791"/>
            </a:avLst>
          </a:prstGeom>
          <a:solidFill>
            <a:schemeClr val="bg1"/>
          </a:solidFill>
          <a:ln/>
        </p:spPr>
      </p:sp>
      <p:pic>
        <p:nvPicPr>
          <p:cNvPr id="4" name="figura conflito" descr="Conflito: a develop mudou a multa para 1% e o desvio mudou a mesma multa para 2%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11680"/>
            <a:ext cx="5394960" cy="2119449"/>
          </a:xfrm>
          <a:prstGeom prst="rect">
            <a:avLst/>
          </a:prstGeom>
        </p:spPr>
      </p:pic>
      <p:sp>
        <p:nvSpPr>
          <p:cNvPr id="5" name="circulo MdWarning"/>
          <p:cNvSpPr/>
          <p:nvPr/>
        </p:nvSpPr>
        <p:spPr>
          <a:xfrm>
            <a:off x="6537960" y="146304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icone MdWarnin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00200"/>
            <a:ext cx="411480" cy="411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406640" y="14630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Mudou dos dois lados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7406640" y="18745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jurídico pôs multa de 2%; o comercial, de 1%. O Git não escolhe.</a:t>
            </a:r>
            <a:endParaRPr lang="en-US" sz="1500" dirty="0"/>
          </a:p>
        </p:txBody>
      </p:sp>
      <p:sp>
        <p:nvSpPr>
          <p:cNvPr id="9" name="circulo MdQuestionAnswer"/>
          <p:cNvSpPr/>
          <p:nvPr/>
        </p:nvSpPr>
        <p:spPr>
          <a:xfrm>
            <a:off x="6537960" y="27889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e MdQuestionAnswer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92608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406640" y="27889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Quem decide é uma pessoa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7406640" y="32004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Às vezes é técnico; muitas vezes é de negócio. Pode ser você.</a:t>
            </a:r>
            <a:endParaRPr lang="en-US" sz="1500" dirty="0"/>
          </a:p>
        </p:txBody>
      </p:sp>
      <p:sp>
        <p:nvSpPr>
          <p:cNvPr id="13" name="circulo MdTimer"/>
          <p:cNvSpPr/>
          <p:nvPr/>
        </p:nvSpPr>
        <p:spPr>
          <a:xfrm>
            <a:off x="6537960" y="41148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e MdTimer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251960"/>
            <a:ext cx="411480" cy="4114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406640" y="41148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Desvio curto, menos conflito</a:t>
            </a:r>
            <a:endParaRPr lang="en-US" sz="1800" dirty="0"/>
          </a:p>
        </p:txBody>
      </p:sp>
      <p:sp>
        <p:nvSpPr>
          <p:cNvPr id="16" name="Text 10"/>
          <p:cNvSpPr txBox="1"/>
          <p:nvPr/>
        </p:nvSpPr>
        <p:spPr>
          <a:xfrm>
            <a:off x="7406640" y="45262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Quanto mais tempo longe da develop, maior a chance (Diretriz 4).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548640" y="5577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O Integrador é o ponto focal nos conflitos complexos (Diretriz 6).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Dinâmica 2 · Qual foi o merge?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Rodadas 1 a 4: compare com os dois "antes" do slide da pergunta "a linha andou?". Qual merge produziu cada "depois"?</a:t>
            </a:r>
            <a:endParaRPr lang="en-US" sz="1700" dirty="0"/>
          </a:p>
        </p:txBody>
      </p:sp>
      <p:sp>
        <p:nvSpPr>
          <p:cNvPr id="4" name="rodada 1"/>
          <p:cNvSpPr/>
          <p:nvPr/>
        </p:nvSpPr>
        <p:spPr>
          <a:xfrm>
            <a:off x="548640" y="178308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/>
        </p:spPr>
      </p:sp>
      <p:sp>
        <p:nvSpPr>
          <p:cNvPr id="5" name="numero 1"/>
          <p:cNvSpPr txBox="1"/>
          <p:nvPr/>
        </p:nvSpPr>
        <p:spPr>
          <a:xfrm>
            <a:off x="685800" y="19202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pic>
        <p:nvPicPr>
          <p:cNvPr id="6" name="figura merge-squash" descr="merge-squa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874520"/>
            <a:ext cx="4206240" cy="1652451"/>
          </a:xfrm>
          <a:prstGeom prst="rect">
            <a:avLst/>
          </a:prstGeom>
        </p:spPr>
      </p:pic>
      <p:sp>
        <p:nvSpPr>
          <p:cNvPr id="7" name="rodada 2"/>
          <p:cNvSpPr/>
          <p:nvPr/>
        </p:nvSpPr>
        <p:spPr>
          <a:xfrm>
            <a:off x="6172200" y="178308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/>
        </p:spPr>
      </p:sp>
      <p:sp>
        <p:nvSpPr>
          <p:cNvPr id="8" name="numero 2"/>
          <p:cNvSpPr txBox="1"/>
          <p:nvPr/>
        </p:nvSpPr>
        <p:spPr>
          <a:xfrm>
            <a:off x="6309360" y="19202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pic>
        <p:nvPicPr>
          <p:cNvPr id="9" name="figura merge-ff" descr="merge-f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874520"/>
            <a:ext cx="4206240" cy="1652451"/>
          </a:xfrm>
          <a:prstGeom prst="rect">
            <a:avLst/>
          </a:prstGeom>
        </p:spPr>
      </p:pic>
      <p:sp>
        <p:nvSpPr>
          <p:cNvPr id="10" name="rodada 3"/>
          <p:cNvSpPr/>
          <p:nvPr/>
        </p:nvSpPr>
        <p:spPr>
          <a:xfrm>
            <a:off x="548640" y="402336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/>
        </p:spPr>
      </p:sp>
      <p:sp>
        <p:nvSpPr>
          <p:cNvPr id="11" name="numero 3"/>
          <p:cNvSpPr txBox="1"/>
          <p:nvPr/>
        </p:nvSpPr>
        <p:spPr>
          <a:xfrm>
            <a:off x="685800" y="41605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pic>
        <p:nvPicPr>
          <p:cNvPr id="12" name="figura merge-rebase" descr="merge-reb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4114800"/>
            <a:ext cx="4206240" cy="1652451"/>
          </a:xfrm>
          <a:prstGeom prst="rect">
            <a:avLst/>
          </a:prstGeom>
        </p:spPr>
      </p:pic>
      <p:sp>
        <p:nvSpPr>
          <p:cNvPr id="13" name="rodada 4"/>
          <p:cNvSpPr/>
          <p:nvPr/>
        </p:nvSpPr>
        <p:spPr>
          <a:xfrm>
            <a:off x="6172200" y="402336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/>
        </p:spPr>
      </p:sp>
      <p:sp>
        <p:nvSpPr>
          <p:cNvPr id="14" name="numero 4"/>
          <p:cNvSpPr txBox="1"/>
          <p:nvPr/>
        </p:nvSpPr>
        <p:spPr>
          <a:xfrm>
            <a:off x="6309360" y="41605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pic>
        <p:nvPicPr>
          <p:cNvPr id="15" name="figura merge-commit" descr="merge-commi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4114800"/>
            <a:ext cx="4206240" cy="165245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Rodadas 5 a 8: qual você escolheria?</a:t>
            </a:r>
            <a:endParaRPr lang="en-US" sz="3200" dirty="0"/>
          </a:p>
        </p:txBody>
      </p:sp>
      <p:sp>
        <p:nvSpPr>
          <p:cNvPr id="3" name="situacao 5"/>
          <p:cNvSpPr/>
          <p:nvPr/>
        </p:nvSpPr>
        <p:spPr>
          <a:xfrm>
            <a:off x="548640" y="1463040"/>
            <a:ext cx="5440680" cy="20574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/>
        </p:spPr>
      </p:sp>
      <p:sp>
        <p:nvSpPr>
          <p:cNvPr id="4" name="numero 5"/>
          <p:cNvSpPr txBox="1"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5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645920"/>
            <a:ext cx="4206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Quero que o histórico mostre quando a cláusula de multa entrou e todas as versões dela até ficar pronta.</a:t>
            </a:r>
            <a:endParaRPr lang="en-US" sz="1700" dirty="0"/>
          </a:p>
        </p:txBody>
      </p:sp>
      <p:sp>
        <p:nvSpPr>
          <p:cNvPr id="6" name="situacao 6"/>
          <p:cNvSpPr/>
          <p:nvPr/>
        </p:nvSpPr>
        <p:spPr>
          <a:xfrm>
            <a:off x="6172200" y="1463040"/>
            <a:ext cx="5440680" cy="20574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/>
        </p:spPr>
      </p:sp>
      <p:sp>
        <p:nvSpPr>
          <p:cNvPr id="7" name="numero 6"/>
          <p:cNvSpPr txBox="1"/>
          <p:nvPr/>
        </p:nvSpPr>
        <p:spPr>
          <a:xfrm>
            <a:off x="6400800" y="16916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6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1645920"/>
            <a:ext cx="4206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Meu desvio tem 14 estações chamadas "ajuste", "ajuste 2" e "agora vai". Quero que entre só o resultado.</a:t>
            </a:r>
            <a:endParaRPr lang="en-US" sz="1700" dirty="0"/>
          </a:p>
        </p:txBody>
      </p:sp>
      <p:sp>
        <p:nvSpPr>
          <p:cNvPr id="9" name="situacao 7"/>
          <p:cNvSpPr/>
          <p:nvPr/>
        </p:nvSpPr>
        <p:spPr>
          <a:xfrm>
            <a:off x="548640" y="3703320"/>
            <a:ext cx="5440680" cy="20574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/>
        </p:spPr>
      </p:sp>
      <p:sp>
        <p:nvSpPr>
          <p:cNvPr id="10" name="numero 7"/>
          <p:cNvSpPr txBox="1"/>
          <p:nvPr/>
        </p:nvSpPr>
        <p:spPr>
          <a:xfrm>
            <a:off x="777240" y="39319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7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886200"/>
            <a:ext cx="4206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develop andou muito desde que comecei. Antes de pedir a aprovação, quero refazer o meu trabalho em cima da versão mais recente.</a:t>
            </a:r>
            <a:endParaRPr lang="en-US" sz="1700" dirty="0"/>
          </a:p>
        </p:txBody>
      </p:sp>
      <p:sp>
        <p:nvSpPr>
          <p:cNvPr id="12" name="situacao 8"/>
          <p:cNvSpPr/>
          <p:nvPr/>
        </p:nvSpPr>
        <p:spPr>
          <a:xfrm>
            <a:off x="6172200" y="3703320"/>
            <a:ext cx="5440680" cy="20574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/>
        </p:spPr>
      </p:sp>
      <p:sp>
        <p:nvSpPr>
          <p:cNvPr id="13" name="numero 8"/>
          <p:cNvSpPr txBox="1"/>
          <p:nvPr/>
        </p:nvSpPr>
        <p:spPr>
          <a:xfrm>
            <a:off x="6400800" y="39319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8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3886200"/>
            <a:ext cx="4206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Ninguém mexeu na develop desde que comecei. Quero juntar sem criar estação nova.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Fast-forward · Merge commit · Squash · Rebase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chemeClr val="accent2"/>
                </a:solidFill>
              </a:rPr>
              <a:t>4</a:t>
            </a:r>
            <a:endParaRPr lang="en-US" sz="9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9260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 viagem no Modelo VIC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690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As regras da ferrovia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Ninguém entra sem passar pela cancela</a:t>
            </a:r>
            <a:endParaRPr lang="en-US" sz="3200" dirty="0"/>
          </a:p>
        </p:txBody>
      </p:sp>
      <p:sp>
        <p:nvSpPr>
          <p:cNvPr id="3" name="fundo figura"/>
          <p:cNvSpPr/>
          <p:nvPr/>
        </p:nvSpPr>
        <p:spPr>
          <a:xfrm>
            <a:off x="548640" y="1417320"/>
            <a:ext cx="5669280" cy="3931920"/>
          </a:xfrm>
          <a:prstGeom prst="roundRect">
            <a:avLst>
              <a:gd name="adj" fmla="val 2791"/>
            </a:avLst>
          </a:prstGeom>
          <a:solidFill>
            <a:schemeClr val="bg1"/>
          </a:solidFill>
          <a:ln/>
        </p:spPr>
      </p:sp>
      <p:pic>
        <p:nvPicPr>
          <p:cNvPr id="4" name="figura cancela-pr" descr="A cancela do pull request: o desvio só entra na develop depois da aprovação e da completu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74520"/>
            <a:ext cx="5394960" cy="1888236"/>
          </a:xfrm>
          <a:prstGeom prst="rect">
            <a:avLst/>
          </a:prstGeom>
        </p:spPr>
      </p:pic>
      <p:sp>
        <p:nvSpPr>
          <p:cNvPr id="5" name="circulo MdLock"/>
          <p:cNvSpPr/>
          <p:nvPr/>
        </p:nvSpPr>
        <p:spPr>
          <a:xfrm>
            <a:off x="6537960" y="146304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icone MdLo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00200"/>
            <a:ext cx="411480" cy="411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406640" y="14630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Push direto é bloqueado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7406640" y="18745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Ninguém escreve direto na main nem na develop (Diretriz 7).</a:t>
            </a:r>
            <a:endParaRPr lang="en-US" sz="1500" dirty="0"/>
          </a:p>
        </p:txBody>
      </p:sp>
      <p:sp>
        <p:nvSpPr>
          <p:cNvPr id="9" name="circulo MdCheckCircle"/>
          <p:cNvSpPr/>
          <p:nvPr/>
        </p:nvSpPr>
        <p:spPr>
          <a:xfrm>
            <a:off x="6537960" y="27889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e MdCheckCircl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92608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406640" y="27889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 · Aprovação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7406640" y="32004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Os revisores do time conferem o pull request, como o visto do jurídico.</a:t>
            </a:r>
            <a:endParaRPr lang="en-US" sz="1500" dirty="0"/>
          </a:p>
        </p:txBody>
      </p:sp>
      <p:sp>
        <p:nvSpPr>
          <p:cNvPr id="13" name="circulo MdMergeType"/>
          <p:cNvSpPr/>
          <p:nvPr/>
        </p:nvSpPr>
        <p:spPr>
          <a:xfrm>
            <a:off x="6537960" y="41148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e MdMergeTyp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251960"/>
            <a:ext cx="411480" cy="4114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406640" y="41148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 · Completude</a:t>
            </a:r>
            <a:endParaRPr lang="en-US" sz="1800" dirty="0"/>
          </a:p>
        </p:txBody>
      </p:sp>
      <p:sp>
        <p:nvSpPr>
          <p:cNvPr id="16" name="Text 10"/>
          <p:cNvSpPr txBox="1"/>
          <p:nvPr/>
        </p:nvSpPr>
        <p:spPr>
          <a:xfrm>
            <a:off x="7406640" y="45262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Integrador efetiva o merge, como o controlador que libera a passagem (Diretriz 8).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548640" y="5577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Pull request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é o pedido de passagem: fica guardado como a ata da decisão.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A volta obrigatória: merge back</a:t>
            </a:r>
            <a:endParaRPr lang="en-US" sz="3200" dirty="0"/>
          </a:p>
        </p:txBody>
      </p:sp>
      <p:sp>
        <p:nvSpPr>
          <p:cNvPr id="3" name="fundo figura"/>
          <p:cNvSpPr/>
          <p:nvPr/>
        </p:nvSpPr>
        <p:spPr>
          <a:xfrm>
            <a:off x="548640" y="1417320"/>
            <a:ext cx="6309360" cy="41148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/>
        </p:spPr>
      </p:sp>
      <p:pic>
        <p:nvPicPr>
          <p:cNvPr id="4" name="figura merge-back" descr="Merge back: a release entra na main e volta para a develop com a correçã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6035040" cy="266251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178040" y="1463040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Toda release e todo hotfix que entram na main voltam para a develop.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178040" y="260604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 contrato: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 aditivo assinado precisa entrar também na minuta da próxima versão. Senão, a próxima versão sai sem o aditivo.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178040" y="402336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 sistema: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sem o merge back, o erro corrigido hoje volta na próxima versão.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7150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É obrigatório ao fim de cada ciclo (Diretriz 5).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O número da versão</a:t>
            </a:r>
            <a:endParaRPr lang="en-US" sz="3200" dirty="0"/>
          </a:p>
        </p:txBody>
      </p:sp>
      <p:sp>
        <p:nvSpPr>
          <p:cNvPr id="3" name="parte MAJOR"/>
          <p:cNvSpPr txBox="1"/>
          <p:nvPr/>
        </p:nvSpPr>
        <p:spPr>
          <a:xfrm>
            <a:off x="548640" y="1417320"/>
            <a:ext cx="2624328" cy="109728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06040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MAJOR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63240"/>
            <a:ext cx="2441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Muda o que já valia: quem dependia precisa se adaptar.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023360"/>
            <a:ext cx="2441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contrato: </a:t>
            </a:r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um contrato renegociado</a:t>
            </a:r>
            <a:endParaRPr lang="en-US" sz="1400" dirty="0"/>
          </a:p>
        </p:txBody>
      </p:sp>
      <p:sp>
        <p:nvSpPr>
          <p:cNvPr id="7" name="parte MINOR"/>
          <p:cNvSpPr txBox="1"/>
          <p:nvPr/>
        </p:nvSpPr>
        <p:spPr>
          <a:xfrm>
            <a:off x="3355848" y="1417320"/>
            <a:ext cx="2624328" cy="109728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3355848" y="2606040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MINOR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447288" y="3063240"/>
            <a:ext cx="2441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Novidade que não muda o que já existia.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4023360"/>
            <a:ext cx="2441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contrato: </a:t>
            </a:r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uma cláusula nova</a:t>
            </a:r>
            <a:endParaRPr lang="en-US" sz="1400" dirty="0"/>
          </a:p>
        </p:txBody>
      </p:sp>
      <p:sp>
        <p:nvSpPr>
          <p:cNvPr id="11" name="parte PATCH"/>
          <p:cNvSpPr txBox="1"/>
          <p:nvPr/>
        </p:nvSpPr>
        <p:spPr>
          <a:xfrm>
            <a:off x="6163056" y="1417320"/>
            <a:ext cx="2624328" cy="109728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6163056" y="2606040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254496" y="3063240"/>
            <a:ext cx="2441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Correção, sem novidade.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54496" y="4023360"/>
            <a:ext cx="2441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contrato: </a:t>
            </a:r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um erro de redação corrigido</a:t>
            </a:r>
            <a:endParaRPr lang="en-US" sz="1400" dirty="0"/>
          </a:p>
        </p:txBody>
      </p:sp>
      <p:sp>
        <p:nvSpPr>
          <p:cNvPr id="15" name="parte BUILD"/>
          <p:cNvSpPr txBox="1"/>
          <p:nvPr/>
        </p:nvSpPr>
        <p:spPr>
          <a:xfrm>
            <a:off x="8970264" y="1417320"/>
            <a:ext cx="2624328" cy="109728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121</a:t>
            </a:r>
            <a:endParaRPr lang="en-US" sz="4800" dirty="0"/>
          </a:p>
        </p:txBody>
      </p:sp>
      <p:sp>
        <p:nvSpPr>
          <p:cNvPr id="16" name="Text 14"/>
          <p:cNvSpPr txBox="1"/>
          <p:nvPr/>
        </p:nvSpPr>
        <p:spPr>
          <a:xfrm>
            <a:off x="8970264" y="2606040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061704" y="3063240"/>
            <a:ext cx="2441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Qual montagem daquela versão foi para produção.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061704" y="4023360"/>
            <a:ext cx="2441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contrato: </a:t>
            </a:r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o número da via protocolada</a:t>
            </a:r>
            <a:endParaRPr lang="en-US" sz="1400" dirty="0"/>
          </a:p>
        </p:txBody>
      </p:sp>
      <p:sp>
        <p:nvSpPr>
          <p:cNvPr id="19" name="semver"/>
          <p:cNvSpPr/>
          <p:nvPr/>
        </p:nvSpPr>
        <p:spPr>
          <a:xfrm>
            <a:off x="548640" y="4846320"/>
            <a:ext cx="11064240" cy="1188720"/>
          </a:xfrm>
          <a:prstGeom prst="roundRect">
            <a:avLst>
              <a:gd name="adj" fmla="val 9231"/>
            </a:avLst>
          </a:prstGeom>
          <a:solidFill>
            <a:schemeClr val="accent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84632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v2.4.1.121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As três primeiras partes são o SemVer (Diretriz 9); a quarta, o BUILD, completa o Padrão VEC, obrigatório em produção (Diretriz 10). Cada versão publicada tem a sua nota de versão (Diretriz 13).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Desvio curto, junção frequente</a:t>
            </a:r>
            <a:endParaRPr lang="en-US" sz="3200" dirty="0"/>
          </a:p>
        </p:txBody>
      </p:sp>
      <p:sp>
        <p:nvSpPr>
          <p:cNvPr id="3" name="pratica Sincronize"/>
          <p:cNvSpPr/>
          <p:nvPr/>
        </p:nvSpPr>
        <p:spPr>
          <a:xfrm>
            <a:off x="548640" y="1417320"/>
            <a:ext cx="3566160" cy="301752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/>
        </p:spPr>
      </p:sp>
      <p:sp>
        <p:nvSpPr>
          <p:cNvPr id="4" name="circulo MdSync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e MdSync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7922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Sincronize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01752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Traga a develop para o seu desvio com frequência. Quanto mais a linha anda sem você, maior o risco de conflito.</a:t>
            </a:r>
            <a:endParaRPr lang="en-US" sz="1500" dirty="0"/>
          </a:p>
        </p:txBody>
      </p:sp>
      <p:sp>
        <p:nvSpPr>
          <p:cNvPr id="8" name="pratica Junte cedo"/>
          <p:cNvSpPr/>
          <p:nvPr/>
        </p:nvSpPr>
        <p:spPr>
          <a:xfrm>
            <a:off x="4297680" y="1417320"/>
            <a:ext cx="3566160" cy="301752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/>
        </p:spPr>
      </p:sp>
      <p:sp>
        <p:nvSpPr>
          <p:cNvPr id="9" name="circulo MdMergeType"/>
          <p:cNvSpPr/>
          <p:nvPr/>
        </p:nvSpPr>
        <p:spPr>
          <a:xfrm>
            <a:off x="4572000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e MdMergeTyp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1792224"/>
            <a:ext cx="438912" cy="43891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0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Junte cedo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301752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Obra longa represa trabalho fora da linha. Entregue em partes menores.</a:t>
            </a:r>
            <a:endParaRPr lang="en-US" sz="1500" dirty="0"/>
          </a:p>
        </p:txBody>
      </p:sp>
      <p:sp>
        <p:nvSpPr>
          <p:cNvPr id="13" name="pratica Desmonte"/>
          <p:cNvSpPr/>
          <p:nvPr/>
        </p:nvSpPr>
        <p:spPr>
          <a:xfrm>
            <a:off x="8046720" y="1417320"/>
            <a:ext cx="3566160" cy="301752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/>
        </p:spPr>
      </p:sp>
      <p:sp>
        <p:nvSpPr>
          <p:cNvPr id="14" name="circulo MdDeleteSweep"/>
          <p:cNvSpPr/>
          <p:nvPr/>
        </p:nvSpPr>
        <p:spPr>
          <a:xfrm>
            <a:off x="8321040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e MdDeleteSweep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1792224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Desmonte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301752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Depois de juntar, o desvio é apagado. A malha só tem trilhos em uso (Diretriz 3).</a:t>
            </a:r>
            <a:endParaRPr lang="en-US" sz="15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63440"/>
          <a:ext cx="1106424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2103120"/>
                <a:gridCol w="2103120"/>
                <a:gridCol w="21031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Meta institucional (faixa 3, Diretriz 4)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feature/*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release/*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hotfix/*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Vida total do desvio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até 15 dias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até 10 dias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até 3 dias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Tempo sem sincronizar com a develop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até 5 dias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O que você viu hoje no Modelo VIC</a:t>
            </a:r>
            <a:endParaRPr lang="en-US" sz="32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749040"/>
                <a:gridCol w="37490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Diretriz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 ferrovia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contrato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· Modelo GitFlow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malha de cinco trilhos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quem redige, onde e para onde vai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· Integração contínua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desvio desmontado depois da junção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cópias descartadas depois de incorporadas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 · Divergência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desvio curto, junção frequente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cópia que não se afasta da minuta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 · Merge back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volta obrigatória para a develop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 aditivo também entra na minuta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 e 8 · Integrador e PR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 controlador e o pedido de passagem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 visto e o protocolo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· Proteção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cancela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ninguém escreve no contrato vigente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9, 10 e 11 · Versões e nomes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 placas e os nomes dos trilhos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 número da versão e da via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 · Nota de versão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 aviso aos passageiros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 quadro de alterações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Dinâmica 3 · A viagem do Contratos Online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Em produção: a versão v2.3.0.97. Desenhe a malha no quadro, na ordem dos eventos.</a:t>
            </a:r>
            <a:endParaRPr lang="en-US" sz="1600" dirty="0"/>
          </a:p>
        </p:txBody>
      </p:sp>
      <p:sp>
        <p:nvSpPr>
          <p:cNvPr id="4" name="numero 1"/>
          <p:cNvSpPr txBox="1"/>
          <p:nvPr/>
        </p:nvSpPr>
        <p:spPr>
          <a:xfrm>
            <a:off x="548640" y="1783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76479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equipe A começa a assinatura digital.</a:t>
            </a:r>
            <a:endParaRPr lang="en-US" sz="1400" dirty="0"/>
          </a:p>
        </p:txBody>
      </p:sp>
      <p:sp>
        <p:nvSpPr>
          <p:cNvPr id="6" name="numero 2"/>
          <p:cNvSpPr txBox="1"/>
          <p:nvPr/>
        </p:nvSpPr>
        <p:spPr>
          <a:xfrm>
            <a:off x="548640" y="23134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29514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equipe B começa o alerta de vencimento.</a:t>
            </a:r>
            <a:endParaRPr lang="en-US" sz="1400" dirty="0"/>
          </a:p>
        </p:txBody>
      </p:sp>
      <p:sp>
        <p:nvSpPr>
          <p:cNvPr id="8" name="numero 3"/>
          <p:cNvSpPr txBox="1"/>
          <p:nvPr/>
        </p:nvSpPr>
        <p:spPr>
          <a:xfrm>
            <a:off x="548640" y="28437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82549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assinatura digital fica pronta; o PR é aprovado e concluído.</a:t>
            </a:r>
            <a:endParaRPr lang="en-US" sz="1400" dirty="0"/>
          </a:p>
        </p:txBody>
      </p:sp>
      <p:sp>
        <p:nvSpPr>
          <p:cNvPr id="10" name="numero 4"/>
          <p:cNvSpPr txBox="1"/>
          <p:nvPr/>
        </p:nvSpPr>
        <p:spPr>
          <a:xfrm>
            <a:off x="548640" y="337413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35584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versão 2.4.0 vai para homologação, com a assinatura. O alerta ainda não está pronto.</a:t>
            </a:r>
            <a:endParaRPr lang="en-US" sz="1400" dirty="0"/>
          </a:p>
        </p:txBody>
      </p:sp>
      <p:sp>
        <p:nvSpPr>
          <p:cNvPr id="12" name="numero 5"/>
          <p:cNvSpPr txBox="1"/>
          <p:nvPr/>
        </p:nvSpPr>
        <p:spPr>
          <a:xfrm>
            <a:off x="548640" y="390448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8862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 homologação, aparece um erro de texto; é corrigido.</a:t>
            </a:r>
            <a:endParaRPr lang="en-US" sz="1400" dirty="0"/>
          </a:p>
        </p:txBody>
      </p:sp>
      <p:sp>
        <p:nvSpPr>
          <p:cNvPr id="14" name="numero 6"/>
          <p:cNvSpPr txBox="1"/>
          <p:nvPr/>
        </p:nvSpPr>
        <p:spPr>
          <a:xfrm>
            <a:off x="548640" y="44348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41655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homologação aprova: a versão entra em produção (build 118).</a:t>
            </a:r>
            <a:endParaRPr lang="en-US" sz="1400" dirty="0"/>
          </a:p>
        </p:txBody>
      </p:sp>
      <p:sp>
        <p:nvSpPr>
          <p:cNvPr id="16" name="numero 7"/>
          <p:cNvSpPr txBox="1"/>
          <p:nvPr/>
        </p:nvSpPr>
        <p:spPr>
          <a:xfrm>
            <a:off x="548640" y="496519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7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94690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dia seguinte, a multa por atraso sai errada em produção; a correção sai no mesmo dia (build 121).</a:t>
            </a:r>
            <a:endParaRPr lang="en-US" sz="1400" dirty="0"/>
          </a:p>
        </p:txBody>
      </p:sp>
      <p:sp>
        <p:nvSpPr>
          <p:cNvPr id="18" name="numero 8"/>
          <p:cNvSpPr txBox="1"/>
          <p:nvPr/>
        </p:nvSpPr>
        <p:spPr>
          <a:xfrm>
            <a:off x="548640" y="54955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8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547725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alerta de vencimento fica pronto e entra para a próxima versão.</a:t>
            </a:r>
            <a:endParaRPr lang="en-US" sz="1400" dirty="0"/>
          </a:p>
        </p:txBody>
      </p:sp>
      <p:sp>
        <p:nvSpPr>
          <p:cNvPr id="20" name="perguntas"/>
          <p:cNvSpPr/>
          <p:nvPr/>
        </p:nvSpPr>
        <p:spPr>
          <a:xfrm>
            <a:off x="7406640" y="1783080"/>
            <a:ext cx="4206240" cy="4206240"/>
          </a:xfrm>
          <a:prstGeom prst="roundRect">
            <a:avLst>
              <a:gd name="adj" fmla="val 2609"/>
            </a:avLst>
          </a:prstGeom>
          <a:solidFill>
            <a:schemeClr val="accent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680960" y="1965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Responda também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680960" y="242316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Que trilhos temporários existiram, e com que nome?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Que placas a main recebeu?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Em que versão o alerta chega aos clientes?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 que aconteceria sem o merge back do evento 7?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Que tipo de merge você usaria no evento 3?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035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 min nas salas · 10 min de conversa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Voltando à enquete</a:t>
            </a:r>
            <a:endParaRPr lang="en-US" sz="3200" dirty="0"/>
          </a:p>
        </p:txBody>
      </p:sp>
      <p:sp>
        <p:nvSpPr>
          <p:cNvPr id="3" name="resposta A"/>
          <p:cNvSpPr/>
          <p:nvPr/>
        </p:nvSpPr>
        <p:spPr>
          <a:xfrm>
            <a:off x="548640" y="1508760"/>
            <a:ext cx="2624328" cy="4206240"/>
          </a:xfrm>
          <a:prstGeom prst="roundRect">
            <a:avLst>
              <a:gd name="adj" fmla="val 4181"/>
            </a:avLst>
          </a:prstGeom>
          <a:solidFill>
            <a:schemeClr val="bg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A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432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Versões por e-mail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0233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39776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ninguém sabe qual vale</a:t>
            </a:r>
            <a:endParaRPr lang="en-US" sz="1600" dirty="0"/>
          </a:p>
        </p:txBody>
      </p:sp>
      <p:sp>
        <p:nvSpPr>
          <p:cNvPr id="8" name="resposta B"/>
          <p:cNvSpPr/>
          <p:nvPr/>
        </p:nvSpPr>
        <p:spPr>
          <a:xfrm>
            <a:off x="3355848" y="1508760"/>
            <a:ext cx="2624328" cy="4206240"/>
          </a:xfrm>
          <a:prstGeom prst="roundRect">
            <a:avLst>
              <a:gd name="adj" fmla="val 4181"/>
            </a:avLst>
          </a:prstGeom>
          <a:solidFill>
            <a:schemeClr val="bg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630168" y="17373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B</a:t>
            </a:r>
            <a:endParaRPr lang="en-US" sz="4800" dirty="0"/>
          </a:p>
        </p:txBody>
      </p:sp>
      <p:sp>
        <p:nvSpPr>
          <p:cNvPr id="10" name="Text 7"/>
          <p:cNvSpPr txBox="1"/>
          <p:nvPr/>
        </p:nvSpPr>
        <p:spPr>
          <a:xfrm>
            <a:off x="3630168" y="27432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Um de cada vez</a:t>
            </a:r>
            <a:endParaRPr lang="en-US" sz="2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40233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178808" y="39776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seguro, mas é uma fila</a:t>
            </a:r>
            <a:endParaRPr lang="en-US" sz="1600" dirty="0"/>
          </a:p>
        </p:txBody>
      </p:sp>
      <p:sp>
        <p:nvSpPr>
          <p:cNvPr id="13" name="resposta C"/>
          <p:cNvSpPr/>
          <p:nvPr/>
        </p:nvSpPr>
        <p:spPr>
          <a:xfrm>
            <a:off x="6163056" y="1508760"/>
            <a:ext cx="2624328" cy="4206240"/>
          </a:xfrm>
          <a:prstGeom prst="roundRect">
            <a:avLst>
              <a:gd name="adj" fmla="val 4181"/>
            </a:avLst>
          </a:prstGeom>
          <a:solidFill>
            <a:schemeClr val="accent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437376" y="17373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C</a:t>
            </a:r>
            <a:endParaRPr lang="en-US" sz="4800" dirty="0"/>
          </a:p>
        </p:txBody>
      </p:sp>
      <p:sp>
        <p:nvSpPr>
          <p:cNvPr id="15" name="Text 11"/>
          <p:cNvSpPr txBox="1"/>
          <p:nvPr/>
        </p:nvSpPr>
        <p:spPr>
          <a:xfrm>
            <a:off x="6437376" y="27432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Cópias com regra para voltar</a:t>
            </a:r>
            <a:endParaRPr lang="en-US" sz="2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40233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86016" y="39776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é o GitFlow</a:t>
            </a:r>
            <a:endParaRPr lang="en-US" sz="1600" dirty="0"/>
          </a:p>
        </p:txBody>
      </p:sp>
      <p:sp>
        <p:nvSpPr>
          <p:cNvPr id="18" name="resposta D"/>
          <p:cNvSpPr/>
          <p:nvPr/>
        </p:nvSpPr>
        <p:spPr>
          <a:xfrm>
            <a:off x="8970264" y="1508760"/>
            <a:ext cx="2624328" cy="4206240"/>
          </a:xfrm>
          <a:prstGeom prst="roundRect">
            <a:avLst>
              <a:gd name="adj" fmla="val 4181"/>
            </a:avLst>
          </a:prstGeom>
          <a:solidFill>
            <a:schemeClr val="bg1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9244584" y="17373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D</a:t>
            </a:r>
            <a:endParaRPr lang="en-US" sz="4800" dirty="0"/>
          </a:p>
        </p:txBody>
      </p:sp>
      <p:sp>
        <p:nvSpPr>
          <p:cNvPr id="20" name="Text 15"/>
          <p:cNvSpPr txBox="1"/>
          <p:nvPr/>
        </p:nvSpPr>
        <p:spPr>
          <a:xfrm>
            <a:off x="9244584" y="27432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Todos no mesmo arquivo</a:t>
            </a:r>
            <a:endParaRPr lang="en-US" sz="20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4584" y="402336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793224" y="39776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um salva por cima do outro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Repita a enquete e compare com o começo.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Perguntas que você já pode fazer ao time</a:t>
            </a:r>
            <a:endParaRPr lang="en-US" sz="3200" dirty="0"/>
          </a:p>
        </p:txBody>
      </p:sp>
      <p:sp>
        <p:nvSpPr>
          <p:cNvPr id="3" name="pergunta 1"/>
          <p:cNvSpPr/>
          <p:nvPr/>
        </p:nvSpPr>
        <p:spPr>
          <a:xfrm>
            <a:off x="548640" y="1417320"/>
            <a:ext cx="544068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8191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Isso já está na main ou só na develop?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57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Já vale para o cliente, ou só na próxima versão?</a:t>
            </a:r>
            <a:endParaRPr lang="en-US" sz="1500" dirty="0"/>
          </a:p>
        </p:txBody>
      </p:sp>
      <p:sp>
        <p:nvSpPr>
          <p:cNvPr id="6" name="pergunta 2"/>
          <p:cNvSpPr/>
          <p:nvPr/>
        </p:nvSpPr>
        <p:spPr>
          <a:xfrm>
            <a:off x="6172200" y="1417320"/>
            <a:ext cx="544068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46520" y="158191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Entra nesta release ou na próxima?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057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A vistoria já começou? Então só entra correção.</a:t>
            </a:r>
            <a:endParaRPr lang="en-US" sz="1500" dirty="0"/>
          </a:p>
        </p:txBody>
      </p:sp>
      <p:sp>
        <p:nvSpPr>
          <p:cNvPr id="9" name="pergunta 3"/>
          <p:cNvSpPr/>
          <p:nvPr/>
        </p:nvSpPr>
        <p:spPr>
          <a:xfrm>
            <a:off x="548640" y="2880360"/>
            <a:ext cx="544068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04495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É hotfix ou pode esperar?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520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Hotfix é emergência em produção, não atalho.</a:t>
            </a:r>
            <a:endParaRPr lang="en-US" sz="1500" dirty="0"/>
          </a:p>
        </p:txBody>
      </p:sp>
      <p:sp>
        <p:nvSpPr>
          <p:cNvPr id="12" name="pergunta 4"/>
          <p:cNvSpPr/>
          <p:nvPr/>
        </p:nvSpPr>
        <p:spPr>
          <a:xfrm>
            <a:off x="6172200" y="2880360"/>
            <a:ext cx="544068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304495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Qual é a placa da versão em produção?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520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O número diz o tamanho da mudança.</a:t>
            </a:r>
            <a:endParaRPr lang="en-US" sz="1500" dirty="0"/>
          </a:p>
        </p:txBody>
      </p:sp>
      <p:sp>
        <p:nvSpPr>
          <p:cNvPr id="15" name="pergunta 5"/>
          <p:cNvSpPr/>
          <p:nvPr/>
        </p:nvSpPr>
        <p:spPr>
          <a:xfrm>
            <a:off x="548640" y="4343400"/>
            <a:ext cx="544068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5079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Fizeram o merge back?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983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Senão, a correção some na próxima versão.</a:t>
            </a:r>
            <a:endParaRPr lang="en-US" sz="1500" dirty="0"/>
          </a:p>
        </p:txBody>
      </p:sp>
      <p:sp>
        <p:nvSpPr>
          <p:cNvPr id="18" name="pergunta 6"/>
          <p:cNvSpPr/>
          <p:nvPr/>
        </p:nvSpPr>
        <p:spPr>
          <a:xfrm>
            <a:off x="6172200" y="4343400"/>
            <a:ext cx="544068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46520" y="45079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Há quanto tempo esse desvio está aberto?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4983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Desvio longo, junção difícil.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Para levar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1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155448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Cada trem no seu trilho: </a:t>
            </a:r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a main é o que vale, a develop é o que vem, os desvios são temporários.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2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292608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Juntar é escolher a história: </a:t>
            </a:r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fast-forward, merge commit, squash ou rebase levam o mesmo conteúdo.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9768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3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429768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Tudo o que chega à main volta para a develop: </a:t>
            </a:r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sem merge back, a correção se perde.</a:t>
            </a:r>
            <a:endParaRPr lang="en-US" sz="2600" dirty="0"/>
          </a:p>
        </p:txBody>
      </p:sp>
      <p:sp>
        <p:nvSpPr>
          <p:cNvPr id="9" name="circulo MdDownload"/>
          <p:cNvSpPr/>
          <p:nvPr/>
        </p:nvSpPr>
        <p:spPr>
          <a:xfrm>
            <a:off x="548640" y="56235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e MdDownloa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733288"/>
            <a:ext cx="329184" cy="32918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80160" y="56235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cartilha de bolso vai no chat: os cinco trilhos, os quatro merges e o número da versão, numa página.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tx2"/>
                </a:solidFill>
              </a:rPr>
              <a:t>Cada trem no seu trilho.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154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Dúvidas? O chat continua aberto.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odelo VIC">
      <a:dk1>
        <a:srgbClr val="22292E"/>
      </a:dk1>
      <a:lt1>
        <a:srgbClr val="FFFFFF"/>
      </a:lt1>
      <a:dk2>
        <a:srgbClr val="00437A"/>
      </a:dk2>
      <a:lt2>
        <a:srgbClr val="F5F8FA"/>
      </a:lt2>
      <a:accent1>
        <a:srgbClr val="005CA9"/>
      </a:accent1>
      <a:accent2>
        <a:srgbClr val="F39200"/>
      </a:accent2>
      <a:accent3>
        <a:srgbClr val="21CAAF"/>
      </a:accent3>
      <a:accent4>
        <a:srgbClr val="D93636"/>
      </a:accent4>
      <a:accent5>
        <a:srgbClr val="E5F2FC"/>
      </a:accent5>
      <a:accent6>
        <a:srgbClr val="525F66"/>
      </a:accent6>
      <a:hlink>
        <a:srgbClr val="005CA9"/>
      </a:hlink>
      <a:folHlink>
        <a:srgbClr val="525F66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CAIXA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Nos trilhos do GitFlow — branches, merges e o Modelo VIC</dc:title>
  <dc:subject>PptxGenJS Presentation</dc:subject>
  <dc:creator>Modelo VIC</dc:creator>
  <cp:lastModifiedBy>Modelo VIC</cp:lastModifiedBy>
  <cp:revision>1</cp:revision>
  <dcterms:created xsi:type="dcterms:W3CDTF">2026-10-25T11:55:49Z</dcterms:created>
  <dcterms:modified xsi:type="dcterms:W3CDTF">2026-10-25T11:55:49Z</dcterms:modified>
</cp:coreProperties>
</file>