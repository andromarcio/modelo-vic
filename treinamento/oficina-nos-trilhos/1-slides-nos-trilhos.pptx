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3c71183-09ab-db9c-2bb9-c135ff214f23}">
          <p14:sldIdLst>
            <p14:sldId id="256"/>
            <p14:sldId id="257"/>
            <p14:sldId id="258"/>
          </p14:sldIdLst>
        </p14:section>
        <p14:section name="1 · O trem e os trilhos" id="{5bed58e2-7539-950d-09af-011414b46f0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2 · O contrato" id="{e0960e33-50f7-d219-2fc2-37a95420a114}">
          <p14:sldIdLst>
            <p14:sldId id="270"/>
            <p14:sldId id="271"/>
            <p14:sldId id="272"/>
            <p14:sldId id="273"/>
            <p14:sldId id="274"/>
          </p14:sldIdLst>
        </p14:section>
        <p14:section name="3 · Os tipos de merge" id="{58a51b47-0d36-b2b2-0efc-c015b152e38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4 · Versões e as regras do Modelo VIC" id="{25c3758a-c9ce-f8eb-ceb3-2f9a29475e81}">
          <p14:sldIdLst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Fechamento" id="{2f969b45-369e-aaaf-0861-a81a6ff533d1}">
          <p14:sldIdLst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Boas-vindas. A oficina tem 3 horas, com um intervalo, e três dinâmicas em grupo. Ninguém aqui precisa saber programar. Ela tem duas partes, uma em cima da outra: primeiro o trem, para entender os trilhos, as branches; depois o contrato, para entender o que fica registrado em cada trilho e como os trilhos se juntam.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as duas partes. A primeira só fala de trilhos, as branches, com um trem. A segunda troca de analogia: um contrato com as suas minutas, para falar do que fica registrado, de como os trilhos se juntam e do número da versão. Os horários são aproximados. Pergunta boba não existe: a oficina é para quem está vendo isso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a enquete com as quatro opções e dê um minuto. Não revele a resposta: ela volta no fechamento. Se alguém comentar, devolva a pergunta: e se duas equipes estiverem mexendo em vagões diferentes ao mesmo tempo?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parte: só trilhos. Nada de versão, de registro ou de tipos de junção; isso fica para a parte 2, com o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a imagem com a turma: o trem é o sistema; cada vagão é uma funcionalidade. Toda mudança no software é uma destas três: um vagão novo, uma melhoria num vagão, ou o conserto de um vagão com defeito. E o trem está sempre rodando, com clientes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ideia central da parte 1. O trem continua rodando na linha; o vagão vai para um desvio, onde a equipe trabalha com calma, sem atrapalhar ninguém. Quando fica pronto, volta e é engatado. Branch é isso: um trilho separado para trabalhar. Por enquanto, "engatar de volta" basta; os jeitos de juntar ficam para 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GitFlow é um modelo de mercado, publicado em 2010 por Vincent Driessen. Ele não é uma ferramenta: é um combinado, como o regulamento de uma ferrovia, que diz quais trilhos existem, de onde cada um sai, para onde vai e quem libera a passagem. No Modelo VIC, ele é regra.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main é o trem que está na linha comercial, levando passageiros. A develop é o pátio onde a próxima composição vai sendo montada, com os vagões que já saíram prontos da oficina. Ninguém mexe direto em nenhum dos dois: tudo chega por um desvio, com autorização. Pergunta para a turma: quando a composição do pátio vai para a linha comercial? Resposta: depois da vistoria, 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asterisco quer dizer "qualquer nome": feature/cartoes, feature/extrato. Repare no tamanho do que roda em cada um: a feature e o hotfix cuidam de um vagão só; a release cuida da composição inteira. Release e hotfix voltam para dois lugares; a feature, para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malha devagar. Em cima, a main: o trem comercial, com passageiros. Embaixo, a develop: o pátio, montando a próxima composição; o vagão tracejado é o lugar do que ainda está na oficina. Na feature, o vagão Cartões é construído e volta para o pátio, onde ocupa o lugar tracejado. Quando a composição do pátio fica pronta, vai inteira para a vistoria, a release, já com o Cartões; aprovada, entra na linha comercial e também volta para o pátio. Repare que o trem comercial ainda não tem o Cartões: ele só chega aos passageiros pela vistoria. Quando um vagão do trem comercial dá defeito, ele vai para o desvio de emergência, o hotfix, e o conserto volta para o trem comercial e para o pátio.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tabela da Diretriz 2, em linguagem de trem. A regra de ouro: se o vagão consertado volta só para o trem comercial, a próxima composição, que está sendo montada no pátio com o vagão antigo, sai com o mesmo defeito. Na parte 2, essa volta ganha um nome: merge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não é enfeite: é por ele que as ferramentas e os indicadores do Modelo VIC reconhecem cada trilho. Os números da release e do hotfix são números de versão; eles ficam para 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abrir as salas, faça a primeira carta com a turma: "o app em produção cobra a tarifa em dobro" é um vagão com defeito no trem comercial: hotfix, sai da main e volta para a main e para a develop. Abra as salas com 12 minutos. Na volta, peça a cada grupo uma carta de que teve dúvida. O gabarito está no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 de 10 minutos. Deixe este slide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parte. Os trilhos continuam os mesmos; agora a pergunta é outra: o que fica registrado neles, e como se juntam. Para isso, trocamos o trem por um contrato com as suas minutas.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mundo já viu essa pasta. Pergunte: qual destes é o contrato que vale? O problema não é falta de cuidado: é que arquivos copiados não guardam quem mudou, o quê e por quê, nem dizem qual cópia é a oficial. Com código é igual, só que com milhares de arquivos e dezenas de pessoas.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commit é a rubrica em cada página da minuta: quem, quando, o quê e por quê. O repositório é a pasta que guarda todas as versões. Isso já responde "quem mudou a cláusula 7?". As outras perguntas, qual versão vale e se a correção entrou, o GitFlow responde com os trilhos que vimos na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ponte entre as duas partes. Tire os dormentes dos trilhos: cada trilho vira uma linha do tempo, e cada bolinha é uma versão rubricada, um commit. Leia da esquerda para a direita. Em B, alguém tira uma cópia para redigir uma cláusula; F1 e F2 são as versões dessa cópia; em M, a cópia é incorporada à minuta. Isso é o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desenho da malha dos trens, agora com as versões. Repare que o vagão virou cláusula: a feature é uma área redigindo uma cláusula; a release é a versão que vai para assinatura e só aceita correção de redação; o hotfix é o aditivo urgente sobre o contrato vigente. As etiquetas na main são os números das versões que foram para produção; voltam no bloco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Terceiro bloco: os jeitos de incorporar uma cópia à minuta. Todos levam o mesmo conteúdo; o que muda é a história que fica registrada.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decide tudo. Se a minuta não andou, juntar é trivial: o fast-forward. Se andou, há três escolhas: merge commit, squash ou rebase. Vamos ver uma por uma, sempre com o mesmo desenho: a develop com A, B e C; a cópia da cláusula de multa com F1 e 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Fast-forward quer dizer avanço rápido: o marcador da develop só pula para a frente, até F2. Não há junção, porque não há o que juntar. Por isso o histórico fica reto e perde o desenho da cópia. No GitFlow original, as junções evitam o fast-forward justamente para que a cópia continue 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jeito mais fiel: nada é reescrito, e a junção vira uma versão própria, o commit de merge. No GitFlow original, todas as junções são assim, com a opção que impede o fast-forward. O nome nos botões costuma ser "merge commit" ou "merge (no fast-forward)".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Squash quer dizer espremer. O histórico da develop fica limpo, uma versão por entrega. O preço é perder o detalhe, que continua registrado no pull request. Curiosidade do Modelo VIC: o squash reduz o número de commits sem reduzir a divergência real, por isso a Diretriz 4 não mede divergência só pela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Rebase quer dizer mudar a base. A cópia, que saía de B, passa a sair de C. As versões são refeitas, por isso ganham o apóstrofo: F1 linha e F2 linha. Depois do rebase, a junção vira um fast-forward. Atenção: só se faz rebase na própria cópia. Reescrever a história de uma linha compartilhada é como trocar as páginas de um contrato que outras pessoas estão lendo.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para fotografar. A frase de baixo é a mais importante: nenhum tipo de merge perde a mudança em si. A escolha é sobre o que a história conta e sobre como fica fácil, depois, achar quando algo entrou.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plataformas do Modelo VIC são o GitHub e o Azure DevOps. Os botões aparecem na hora de concluir o pull request. O fast-forward puro não tem botão próprio: ele acontece quando a minuta não andou, ou depois de um rebase. O semi-linear, do Azure DevOps, faz o rebase e ainda cria a versão de junção.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Conflito não é erro de ninguém: é o Git avisando que duas mudanças disputam o mesmo trecho e que ele não vai adivinhar qual vale. Pode acontecer em qualquer tipo de merge, inclusive no rebase. Ponto para o público de negócio: quando o conflito é de regra, como a multa, a decisão é de negócio; o time técnico vai precisar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enquete por rodada, com as opções Fast-forward, Merge commit, Squash e Rebase. Respostas: 1 squash (F1+F2 numa versão só); 2 fast-forward (linha reta, sem C: a minuta não tinha andado); 3 rebase (F1 linha e F2 linha saindo de C); 4 merge commit (a junção M). A rodada 2 é a pegadinha: não tem C, porque partiu do "antes" em que a minuta não andou. Deixe na tela, ou cole no chat, os dois "antes".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Respostas: 5 merge commit; 6 squash; 7 rebase; 8 fast-forward. Na 7, alguém pode dizer merge commit, trazendo a develop para dentro da cópia: também resolve, e é a resposta certa quando a cópia é compartilhada com outras pessoas. Reforce: rebase só na própria cópia.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 bloco: as regras do Modelo VIC que envolvem o fluxo. É um bloco curto, com seis slides em 15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pull request, ou PR, é o pedido para levar uma cópia a uma linha permanente. Ele tem dois momentos, e o Modelo VIC separa quem faz cada um: os revisores aprovam; o Integrador conclui. É ali que se escolhe o tipo de merge. Tudo fica registrado: quem pediu, quem aprovou, o que se discutiu. É o "quem libera a passagem" do regulamento da ferrovia.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regra de ouro da parte 1, agora com nome. Pergunte: o que acontece se a correção feita na versão para assinatura não voltar para a minuta? A próxima versão é redigida a partir da minuta, então sai com o erro de novo. Isso se chama regressão.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Basta lembrar: o número conta o tamanho da mudança. Primeiro número mudou, cuidado: algo que já existia mudou. Segundo número: novidade. Terceiro: correção. O quarto, o BUILD, identifica a montagem, e só versão com os quatro números vai para produção. A nota de versão é o quadro de alterações anexo ao contrato: adicionado, alterado, corrigido.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contrato: quanto mais tempo uma área fica com a sua cópia sem olhar a minuta, mais difícil é juntar depois. O Modelo VIC mede isso, a divergência, e fixa limites por faixa de maturidade; a meta institucional é a faixa 3. Release e hotfix têm só o limite de vida, porque a release se afasta da develop por desenho.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bloco. Não leia a tabela inteira: escolha duas linhas e mostre que tudo o que vimos hoje, nas duas partes, está escrito nas diretrizes do Modelo VIC. As diretrizes 1 e 12 ficam de fora porque tratam de testes e do conteúdo dos arquivos, não do fluxo.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tem no quadro as peças: linhas das cinco cores, bolinhas para as versões e etiquetas para os números. Peça que numerem cada bolinha com o número do evento. Na volta, um grupo mostra o desenho e os outros comparam; depois mostre o gabarito, que está no material das dinâmicas. Respostas: feature/assinatura, feature/alerta, release/2.4.0 e hotfix/2.4.1; números v2.4.0.118 e v2.4.1.121; o alerta chega na 2.5.0, a próxima release, MINOR porque é novidade; sem o merge back, a 2.5.0 voltaria a calcular a multa errada; no evento 3, a resposta é aberta.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Revele a resposta: C. O desvio é a branch, e o engate é o merge. A é parar o sistema: os clientes ficam sem atendimento. B é mexer direto em produção: o passageiro sente cada martelada, e é o que a proteção da main proíbe. D é refazer tudo: caro, e não resolve. Repita a enquete e mostre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ganho prático para quem é de negócio: com estas seis perguntas, a pessoa acompanha uma entrega sem precisar abrir o código. Peça que cada um escolha a pergunta que vai fazer na próxima reunião com o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frases para levar: a primeira é da parte 1, as outras duas, da parte 2. Envie a cartilha de bolso no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Agradeça e abra para dúvidas.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-vic/prototypes/versionamento-codigo/assets/brand/vic-logo-nega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3566160" cy="98922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7498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65760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5897880"/>
            <a:ext cx="6766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Shape 0"/>
          <p:cNvSpPr/>
          <p:nvPr/>
        </p:nvSpPr>
        <p:spPr>
          <a:xfrm>
            <a:off x="8503920" y="2377440"/>
            <a:ext cx="2926080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Text 1"/>
          <p:cNvSpPr/>
          <p:nvPr/>
        </p:nvSpPr>
        <p:spPr>
          <a:xfrm>
            <a:off x="8823960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2"/>
          <p:cNvSpPr/>
          <p:nvPr/>
        </p:nvSpPr>
        <p:spPr>
          <a:xfrm>
            <a:off x="9848088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3"/>
          <p:cNvSpPr/>
          <p:nvPr/>
        </p:nvSpPr>
        <p:spPr>
          <a:xfrm>
            <a:off x="10872216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4"/>
          <p:cNvSpPr/>
          <p:nvPr/>
        </p:nvSpPr>
        <p:spPr>
          <a:xfrm>
            <a:off x="9147658" y="2880360"/>
            <a:ext cx="2282342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Text 5"/>
          <p:cNvSpPr/>
          <p:nvPr/>
        </p:nvSpPr>
        <p:spPr>
          <a:xfrm>
            <a:off x="937113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1016995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1096877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8"/>
          <p:cNvSpPr/>
          <p:nvPr/>
        </p:nvSpPr>
        <p:spPr>
          <a:xfrm>
            <a:off x="9791395" y="3383280"/>
            <a:ext cx="1638605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4" name="Text 9"/>
          <p:cNvSpPr/>
          <p:nvPr/>
        </p:nvSpPr>
        <p:spPr>
          <a:xfrm>
            <a:off x="9918314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10491826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11065337" y="3296412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VAL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Shape 0"/>
          <p:cNvSpPr/>
          <p:nvPr/>
        </p:nvSpPr>
        <p:spPr>
          <a:xfrm>
            <a:off x="8503920" y="2377440"/>
            <a:ext cx="2926080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" name="Text 1"/>
          <p:cNvSpPr/>
          <p:nvPr/>
        </p:nvSpPr>
        <p:spPr>
          <a:xfrm>
            <a:off x="8823960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9848088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10872216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4"/>
          <p:cNvSpPr/>
          <p:nvPr/>
        </p:nvSpPr>
        <p:spPr>
          <a:xfrm>
            <a:off x="9147658" y="2880360"/>
            <a:ext cx="2282342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9" name="Text 5"/>
          <p:cNvSpPr/>
          <p:nvPr/>
        </p:nvSpPr>
        <p:spPr>
          <a:xfrm>
            <a:off x="937113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1016995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1096877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9791395" y="3383280"/>
            <a:ext cx="1638605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3" name="Text 9"/>
          <p:cNvSpPr/>
          <p:nvPr/>
        </p:nvSpPr>
        <p:spPr>
          <a:xfrm>
            <a:off x="9918314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10491826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1065337" y="3296412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3" name="Image 0" descr="/home/user/modelo-vic/prototypes/versionamento-codigo/assets/brand/vic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64224"/>
            <a:ext cx="292608" cy="2926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32688" y="6373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Modelo VIC · Nos trilhos do GitFlow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M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pic>
        <p:nvPicPr>
          <p:cNvPr id="4" name="Image 0" descr="/home/user/modelo-vic/prototypes/versionamento-codigo/assets/brand/vic-logo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168" y="4572000"/>
            <a:ext cx="4023360" cy="111605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1920240"/>
            <a:ext cx="7498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Nos trilhos do GitFlow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36576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Branches, merges e o Modelo VIC — oficina para quem nunca escreveu uma linha de código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40080" y="5897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versionamento e integração de código</a:t>
            </a:r>
            <a:endParaRPr lang="en-US" sz="1400" dirty="0"/>
          </a:p>
        </p:txBody>
      </p:sp>
      <p:sp>
        <p:nvSpPr>
          <p:cNvPr id="5" name="trilho capa 0"/>
          <p:cNvSpPr/>
          <p:nvPr/>
        </p:nvSpPr>
        <p:spPr>
          <a:xfrm>
            <a:off x="8412480" y="1463040"/>
            <a:ext cx="3108960" cy="73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estacao capa"/>
          <p:cNvSpPr/>
          <p:nvPr/>
        </p:nvSpPr>
        <p:spPr>
          <a:xfrm>
            <a:off x="854049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estacao capa"/>
          <p:cNvSpPr/>
          <p:nvPr/>
        </p:nvSpPr>
        <p:spPr>
          <a:xfrm>
            <a:off x="982065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estacao capa"/>
          <p:cNvSpPr/>
          <p:nvPr/>
        </p:nvSpPr>
        <p:spPr>
          <a:xfrm>
            <a:off x="1110081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rilho capa 1"/>
          <p:cNvSpPr/>
          <p:nvPr/>
        </p:nvSpPr>
        <p:spPr>
          <a:xfrm>
            <a:off x="8961120" y="2377440"/>
            <a:ext cx="2377440" cy="73152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10" name="estacao capa"/>
          <p:cNvSpPr/>
          <p:nvPr/>
        </p:nvSpPr>
        <p:spPr>
          <a:xfrm>
            <a:off x="90891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1" name="estacao capa"/>
          <p:cNvSpPr/>
          <p:nvPr/>
        </p:nvSpPr>
        <p:spPr>
          <a:xfrm>
            <a:off x="100035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2" name="estacao capa"/>
          <p:cNvSpPr/>
          <p:nvPr/>
        </p:nvSpPr>
        <p:spPr>
          <a:xfrm>
            <a:off x="109179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3" name="trilho capa 2"/>
          <p:cNvSpPr/>
          <p:nvPr/>
        </p:nvSpPr>
        <p:spPr>
          <a:xfrm>
            <a:off x="8412480" y="3291840"/>
            <a:ext cx="3108960" cy="73152"/>
          </a:xfrm>
          <a:prstGeom prst="rect">
            <a:avLst/>
          </a:prstGeom>
          <a:solidFill>
            <a:srgbClr val="005CA9"/>
          </a:solidFill>
          <a:ln/>
        </p:spPr>
      </p:sp>
      <p:sp>
        <p:nvSpPr>
          <p:cNvPr id="14" name="estacao capa"/>
          <p:cNvSpPr/>
          <p:nvPr/>
        </p:nvSpPr>
        <p:spPr>
          <a:xfrm>
            <a:off x="854049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5" name="estacao capa"/>
          <p:cNvSpPr/>
          <p:nvPr/>
        </p:nvSpPr>
        <p:spPr>
          <a:xfrm>
            <a:off x="982065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6" name="estacao capa"/>
          <p:cNvSpPr/>
          <p:nvPr/>
        </p:nvSpPr>
        <p:spPr>
          <a:xfrm>
            <a:off x="1110081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7" name="trilho capa 3"/>
          <p:cNvSpPr/>
          <p:nvPr/>
        </p:nvSpPr>
        <p:spPr>
          <a:xfrm>
            <a:off x="9235440" y="4206240"/>
            <a:ext cx="2011680" cy="73152"/>
          </a:xfrm>
          <a:prstGeom prst="rect">
            <a:avLst/>
          </a:prstGeom>
          <a:solidFill>
            <a:srgbClr val="21CAAF"/>
          </a:solidFill>
          <a:ln/>
        </p:spPr>
      </p:sp>
      <p:sp>
        <p:nvSpPr>
          <p:cNvPr id="18" name="estacao capa"/>
          <p:cNvSpPr/>
          <p:nvPr/>
        </p:nvSpPr>
        <p:spPr>
          <a:xfrm>
            <a:off x="936345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19" name="estacao capa"/>
          <p:cNvSpPr/>
          <p:nvPr/>
        </p:nvSpPr>
        <p:spPr>
          <a:xfrm>
            <a:off x="1009497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20" name="estacao capa"/>
          <p:cNvSpPr/>
          <p:nvPr/>
        </p:nvSpPr>
        <p:spPr>
          <a:xfrm>
            <a:off x="1082649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21" name="placa capa"/>
          <p:cNvSpPr/>
          <p:nvPr/>
        </p:nvSpPr>
        <p:spPr>
          <a:xfrm>
            <a:off x="10607040" y="868680"/>
            <a:ext cx="1051560" cy="384048"/>
          </a:xfrm>
          <a:prstGeom prst="rect">
            <a:avLst>
              <a:gd name="adj" fmla="val 11905"/>
            </a:avLst>
          </a:prstGeom>
          <a:solidFill>
            <a:srgbClr val="F392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07040" y="8686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</a:t>
            </a:r>
            <a:endParaRPr lang="en-US" sz="1600" dirty="0"/>
          </a:p>
        </p:txBody>
      </p:sp>
      <p:sp>
        <p:nvSpPr>
          <p:cNvPr id="23" name="poste capa"/>
          <p:cNvSpPr/>
          <p:nvPr/>
        </p:nvSpPr>
        <p:spPr>
          <a:xfrm>
            <a:off x="11119104" y="1252728"/>
            <a:ext cx="36576" cy="210312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Como vai ser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0:00</a:t>
            </a:r>
            <a:endParaRPr lang="en-US" sz="1400" dirty="0"/>
          </a:p>
        </p:txBody>
      </p:sp>
      <p:sp>
        <p:nvSpPr>
          <p:cNvPr id="4" name="marca Abertura"/>
          <p:cNvSpPr/>
          <p:nvPr/>
        </p:nvSpPr>
        <p:spPr>
          <a:xfrm>
            <a:off x="1371600" y="144475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830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Abertura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647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Parte 1 · O trem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0:10</a:t>
            </a:r>
            <a:endParaRPr lang="en-US" sz="1400" dirty="0"/>
          </a:p>
        </p:txBody>
      </p:sp>
      <p:sp>
        <p:nvSpPr>
          <p:cNvPr id="8" name="marca 1 · O trem e os trilhos"/>
          <p:cNvSpPr/>
          <p:nvPr/>
        </p:nvSpPr>
        <p:spPr>
          <a:xfrm>
            <a:off x="1371600" y="223113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83080" y="21579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 · O trem e os trilhos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5117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0:35</a:t>
            </a:r>
            <a:endParaRPr lang="en-US" sz="1400" dirty="0"/>
          </a:p>
        </p:txBody>
      </p:sp>
      <p:sp>
        <p:nvSpPr>
          <p:cNvPr id="11" name="marca Dinâmica 1 · Qual trilho?"/>
          <p:cNvSpPr/>
          <p:nvPr/>
        </p:nvSpPr>
        <p:spPr>
          <a:xfrm>
            <a:off x="1371600" y="2624328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83080" y="25511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1 · Qual trilho?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443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0:55</a:t>
            </a:r>
            <a:endParaRPr lang="en-US" sz="1400" dirty="0"/>
          </a:p>
        </p:txBody>
      </p:sp>
      <p:sp>
        <p:nvSpPr>
          <p:cNvPr id="14" name="marca Intervalo"/>
          <p:cNvSpPr/>
          <p:nvPr/>
        </p:nvSpPr>
        <p:spPr>
          <a:xfrm>
            <a:off x="1371600" y="3017520"/>
            <a:ext cx="219456" cy="21945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783080" y="29443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Intervalo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375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Parte 2 · O contrato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307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1:05</a:t>
            </a:r>
            <a:endParaRPr lang="en-US" sz="1400" dirty="0"/>
          </a:p>
        </p:txBody>
      </p:sp>
      <p:sp>
        <p:nvSpPr>
          <p:cNvPr id="18" name="marca 2 · O contrato: o que fica registrado"/>
          <p:cNvSpPr/>
          <p:nvPr/>
        </p:nvSpPr>
        <p:spPr>
          <a:xfrm>
            <a:off x="1371600" y="380390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83080" y="37307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 · O contrato: o que fica registrado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239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1:25</a:t>
            </a:r>
            <a:endParaRPr lang="en-US" sz="1400" dirty="0"/>
          </a:p>
        </p:txBody>
      </p:sp>
      <p:sp>
        <p:nvSpPr>
          <p:cNvPr id="21" name="marca 3 · Os tipos de merge"/>
          <p:cNvSpPr/>
          <p:nvPr/>
        </p:nvSpPr>
        <p:spPr>
          <a:xfrm>
            <a:off x="1371600" y="419709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783080" y="4123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 · Os tipos de merge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17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1:55</a:t>
            </a:r>
            <a:endParaRPr lang="en-US" sz="1400" dirty="0"/>
          </a:p>
        </p:txBody>
      </p:sp>
      <p:sp>
        <p:nvSpPr>
          <p:cNvPr id="24" name="marca Dinâmica 2 · Qual foi o merge?"/>
          <p:cNvSpPr/>
          <p:nvPr/>
        </p:nvSpPr>
        <p:spPr>
          <a:xfrm>
            <a:off x="1371600" y="4590288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783080" y="45171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2 · Qual foi o merge?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9103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2:10</a:t>
            </a:r>
            <a:endParaRPr lang="en-US" sz="1400" dirty="0"/>
          </a:p>
        </p:txBody>
      </p:sp>
      <p:sp>
        <p:nvSpPr>
          <p:cNvPr id="27" name="marca 4 · Versões e as regras do Modelo VIC"/>
          <p:cNvSpPr/>
          <p:nvPr/>
        </p:nvSpPr>
        <p:spPr>
          <a:xfrm>
            <a:off x="1371600" y="498348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78308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 · Versões e as regras do Modelo VIC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303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2:25</a:t>
            </a:r>
            <a:endParaRPr lang="en-US" sz="1400" dirty="0"/>
          </a:p>
        </p:txBody>
      </p:sp>
      <p:sp>
        <p:nvSpPr>
          <p:cNvPr id="30" name="marca Dinâmica 3 · A vida de uma versão"/>
          <p:cNvSpPr/>
          <p:nvPr/>
        </p:nvSpPr>
        <p:spPr>
          <a:xfrm>
            <a:off x="1371600" y="537667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783080" y="5303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3 · A vida de uma versão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967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2:50</a:t>
            </a:r>
            <a:endParaRPr lang="en-US" sz="1400" dirty="0"/>
          </a:p>
        </p:txBody>
      </p:sp>
      <p:sp>
        <p:nvSpPr>
          <p:cNvPr id="33" name="marca Fechamento"/>
          <p:cNvSpPr/>
          <p:nvPr/>
        </p:nvSpPr>
        <p:spPr>
          <a:xfrm>
            <a:off x="1371600" y="576986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783080" y="56967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Fechamento</a:t>
            </a:r>
            <a:endParaRPr lang="en-US" sz="1600" dirty="0"/>
          </a:p>
        </p:txBody>
      </p:sp>
      <p:sp>
        <p:nvSpPr>
          <p:cNvPr id="35" name="combinados"/>
          <p:cNvSpPr/>
          <p:nvPr/>
        </p:nvSpPr>
        <p:spPr>
          <a:xfrm>
            <a:off x="7223760" y="1417320"/>
            <a:ext cx="4389120" cy="4663440"/>
          </a:xfrm>
          <a:prstGeom prst="roundRect">
            <a:avLst>
              <a:gd name="adj" fmla="val 2500"/>
            </a:avLst>
          </a:prstGeom>
          <a:solidFill>
            <a:schemeClr val="accent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98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Combinados</a:t>
            </a:r>
            <a:endParaRPr lang="en-US" sz="2000" dirty="0"/>
          </a:p>
        </p:txBody>
      </p:sp>
      <p:sp>
        <p:nvSpPr>
          <p:cNvPr id="37" name="circulo MdVideocam"/>
          <p:cNvSpPr/>
          <p:nvPr/>
        </p:nvSpPr>
        <p:spPr>
          <a:xfrm>
            <a:off x="7498080" y="2286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icone MdVideoc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096" y="2414016"/>
            <a:ext cx="384048" cy="384048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8366760" y="2286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Câmera opcional</a:t>
            </a:r>
            <a:endParaRPr lang="en-US" sz="1600" dirty="0"/>
          </a:p>
        </p:txBody>
      </p:sp>
      <p:sp>
        <p:nvSpPr>
          <p:cNvPr id="40" name="circulo MdMicOff"/>
          <p:cNvSpPr/>
          <p:nvPr/>
        </p:nvSpPr>
        <p:spPr>
          <a:xfrm>
            <a:off x="7498080" y="3200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icone MdMicOff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096" y="3328416"/>
            <a:ext cx="384048" cy="384048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36676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Microfone fechado fora das salas</a:t>
            </a:r>
            <a:endParaRPr lang="en-US" sz="1600" dirty="0"/>
          </a:p>
        </p:txBody>
      </p:sp>
      <p:sp>
        <p:nvSpPr>
          <p:cNvPr id="43" name="circulo MdChat"/>
          <p:cNvSpPr/>
          <p:nvPr/>
        </p:nvSpPr>
        <p:spPr>
          <a:xfrm>
            <a:off x="7498080" y="4114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4" name="icone MdCha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096" y="4242816"/>
            <a:ext cx="384048" cy="384048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836676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Chat aberto o tempo todo: pergunte quando quiser</a:t>
            </a:r>
            <a:endParaRPr lang="en-US" sz="1600" dirty="0"/>
          </a:p>
        </p:txBody>
      </p:sp>
      <p:sp>
        <p:nvSpPr>
          <p:cNvPr id="46" name="circulo MdGroups"/>
          <p:cNvSpPr/>
          <p:nvPr/>
        </p:nvSpPr>
        <p:spPr>
          <a:xfrm>
            <a:off x="749808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7" name="icone MdGroup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5157216"/>
            <a:ext cx="384048" cy="384048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8366760" y="5029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Três dinâmicas em salas, em grupos de 4 ou 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Como reformar um vagão sem parar o trem?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trem leva passageiros o dia todo. Um vagão precisa ser reformado, e outro, construído. Qual é o jeito certo?</a:t>
            </a:r>
            <a:endParaRPr lang="en-US" sz="1800" dirty="0"/>
          </a:p>
        </p:txBody>
      </p:sp>
      <p:sp>
        <p:nvSpPr>
          <p:cNvPr id="4" name="opcao A"/>
          <p:cNvSpPr/>
          <p:nvPr/>
        </p:nvSpPr>
        <p:spPr>
          <a:xfrm>
            <a:off x="548640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Parar o trem até a reforma acabar</a:t>
            </a:r>
            <a:endParaRPr lang="en-US" sz="1700" dirty="0"/>
          </a:p>
        </p:txBody>
      </p:sp>
      <p:sp>
        <p:nvSpPr>
          <p:cNvPr id="7" name="opcao B"/>
          <p:cNvSpPr/>
          <p:nvPr/>
        </p:nvSpPr>
        <p:spPr>
          <a:xfrm>
            <a:off x="3355848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0168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Reformar o vagão com o trem andando e os passageiros dentro</a:t>
            </a:r>
            <a:endParaRPr lang="en-US" sz="1700" dirty="0"/>
          </a:p>
        </p:txBody>
      </p:sp>
      <p:sp>
        <p:nvSpPr>
          <p:cNvPr id="10" name="opcao C"/>
          <p:cNvSpPr/>
          <p:nvPr/>
        </p:nvSpPr>
        <p:spPr>
          <a:xfrm>
            <a:off x="6163056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7376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C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Levar o vagão para um desvio, trabalhar lá e engatar de volta quando estiver pronto</a:t>
            </a:r>
            <a:endParaRPr lang="en-US" sz="1700" dirty="0"/>
          </a:p>
        </p:txBody>
      </p:sp>
      <p:sp>
        <p:nvSpPr>
          <p:cNvPr id="13" name="opcao D"/>
          <p:cNvSpPr/>
          <p:nvPr/>
        </p:nvSpPr>
        <p:spPr>
          <a:xfrm>
            <a:off x="8970264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4584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44584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Comprar um trem novo a cada mudança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Responda na enquete. A resposta vem no fim.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trem e os trilhos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Parte 1 · Para que servem as branches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software é um trem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371600"/>
            <a:ext cx="1106424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4" name="figura trem" descr="Um trem com quatro vagões, Cartões, Extrato, Pix e 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9692640" cy="1863969"/>
          </a:xfrm>
          <a:prstGeom prst="rect">
            <a:avLst/>
          </a:prstGeom>
        </p:spPr>
      </p:pic>
      <p:sp>
        <p:nvSpPr>
          <p:cNvPr id="5" name="circulo MdTrain"/>
          <p:cNvSpPr/>
          <p:nvPr/>
        </p:nvSpPr>
        <p:spPr>
          <a:xfrm>
            <a:off x="54864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e MdTrai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306824"/>
            <a:ext cx="438912" cy="438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trem é o sistema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146304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app do banco, inteiro</a:t>
            </a:r>
            <a:endParaRPr lang="en-US" sz="1500" dirty="0"/>
          </a:p>
        </p:txBody>
      </p:sp>
      <p:sp>
        <p:nvSpPr>
          <p:cNvPr id="9" name="circulo MdViewModule"/>
          <p:cNvSpPr/>
          <p:nvPr/>
        </p:nvSpPr>
        <p:spPr>
          <a:xfrm>
            <a:off x="429768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ViewModu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30682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21208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Vagão é funcionalidade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521208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Login, Pix, Extrato, Cartões</a:t>
            </a:r>
            <a:endParaRPr lang="en-US" sz="1500" dirty="0"/>
          </a:p>
        </p:txBody>
      </p:sp>
      <p:sp>
        <p:nvSpPr>
          <p:cNvPr id="13" name="circulo MdGroups"/>
          <p:cNvSpPr/>
          <p:nvPr/>
        </p:nvSpPr>
        <p:spPr>
          <a:xfrm>
            <a:off x="804672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Group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4306824"/>
            <a:ext cx="438912" cy="43891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trem não pode parar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tem passageiros a bordo: os clientes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Mudar o software é mexer nos vagões: ganhar um vagão novo, melhorar um vagão ou consertar um vagão com defeito.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Um trilho para cada trabalho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280160"/>
            <a:ext cx="11064240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</p:spPr>
      </p:sp>
      <p:pic>
        <p:nvPicPr>
          <p:cNvPr id="4" name="figura oficina" descr="O trem segue rodando enquanto o vagão Cartões é feito num desvio e depois vol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371600"/>
            <a:ext cx="10058400" cy="279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Trilho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cada linha onde algo roda ou é trabalhado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Desvio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nova branch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um trilho que sai de outro, para trabalhar sem parar a linha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Engatar de volta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trabalho pronto volta para a linha de onde saiu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GitFlow é o regulamento da ferrovia</a:t>
            </a:r>
            <a:endParaRPr lang="en-US" sz="3200" dirty="0"/>
          </a:p>
        </p:txBody>
      </p:sp>
      <p:sp>
        <p:nvSpPr>
          <p:cNvPr id="3" name="regra 1"/>
          <p:cNvSpPr/>
          <p:nvPr/>
        </p:nvSpPr>
        <p:spPr>
          <a:xfrm>
            <a:off x="548640" y="146304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4" name="circulo MdCallSplit"/>
          <p:cNvSpPr/>
          <p:nvPr/>
        </p:nvSpPr>
        <p:spPr>
          <a:xfrm>
            <a:off x="822960" y="184708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 MdCallSpli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993392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Quais trilhos existem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40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dois permanentes e três temporários</a:t>
            </a:r>
            <a:endParaRPr lang="en-US" sz="1500" dirty="0"/>
          </a:p>
        </p:txBody>
      </p:sp>
      <p:sp>
        <p:nvSpPr>
          <p:cNvPr id="8" name="regra 2"/>
          <p:cNvSpPr/>
          <p:nvPr/>
        </p:nvSpPr>
        <p:spPr>
          <a:xfrm>
            <a:off x="6172200" y="146304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9" name="circulo MdLogin"/>
          <p:cNvSpPr/>
          <p:nvPr/>
        </p:nvSpPr>
        <p:spPr>
          <a:xfrm>
            <a:off x="6446520" y="184708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Logi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993392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 onde cada um sai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 de que trilho tira o que leva</a:t>
            </a:r>
            <a:endParaRPr lang="en-US" sz="1500" dirty="0"/>
          </a:p>
        </p:txBody>
      </p:sp>
      <p:sp>
        <p:nvSpPr>
          <p:cNvPr id="13" name="regra 3"/>
          <p:cNvSpPr/>
          <p:nvPr/>
        </p:nvSpPr>
        <p:spPr>
          <a:xfrm>
            <a:off x="548640" y="315468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14" name="circulo MdLogout"/>
          <p:cNvSpPr/>
          <p:nvPr/>
        </p:nvSpPr>
        <p:spPr>
          <a:xfrm>
            <a:off x="822960" y="35387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 MdLogou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85032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Para onde cada um vai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31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 o que precisa voltar</a:t>
            </a:r>
            <a:endParaRPr lang="en-US" sz="1500" dirty="0"/>
          </a:p>
        </p:txBody>
      </p:sp>
      <p:sp>
        <p:nvSpPr>
          <p:cNvPr id="18" name="regra 4"/>
          <p:cNvSpPr/>
          <p:nvPr/>
        </p:nvSpPr>
        <p:spPr>
          <a:xfrm>
            <a:off x="6172200" y="315468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19" name="circulo MdLock"/>
          <p:cNvSpPr/>
          <p:nvPr/>
        </p:nvSpPr>
        <p:spPr>
          <a:xfrm>
            <a:off x="6446520" y="35387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e Md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3685032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Quem libera a passagem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931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ninguém entra nos trilhos permanentes sem autorização</a:t>
            </a:r>
            <a:endParaRPr lang="en-US" sz="1500" dirty="0"/>
          </a:p>
        </p:txBody>
      </p:sp>
      <p:sp>
        <p:nvSpPr>
          <p:cNvPr id="23" name="vic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accent5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22960" y="49834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No Modelo VIC, é regra: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fluxo de todo repositório deve ser aderente ao GitFlow (Diretriz 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Dois trilhos permanentes</a:t>
            </a:r>
            <a:endParaRPr lang="en-US" sz="3200" dirty="0"/>
          </a:p>
        </p:txBody>
      </p:sp>
      <p:sp>
        <p:nvSpPr>
          <p:cNvPr id="3" name="cartao main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4" name="faixa main"/>
          <p:cNvSpPr txBox="1"/>
          <p:nvPr/>
        </p:nvSpPr>
        <p:spPr>
          <a:xfrm>
            <a:off x="548640" y="1417320"/>
            <a:ext cx="5440680" cy="45720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 linha comercial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 trem completo, com passageiros.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No sistema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o que está em produção: o que o cliente usa hoje.</a:t>
            </a:r>
            <a:endParaRPr lang="en-US" sz="1700" dirty="0"/>
          </a:p>
        </p:txBody>
      </p:sp>
      <p:sp>
        <p:nvSpPr>
          <p:cNvPr id="8" name="cartao develop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faixa develop"/>
          <p:cNvSpPr txBox="1"/>
          <p:nvPr/>
        </p:nvSpPr>
        <p:spPr>
          <a:xfrm>
            <a:off x="6172200" y="1417320"/>
            <a:ext cx="544068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 pátio de montagem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743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próxima composição, com os vagões que já ficaram prontos.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No sistema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o que vai para a próxima entrega.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Os dois existem sempre e são protegidos: ninguém mexe neles direto (Diretrizes 2 e 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Três trilhos temporários</a:t>
            </a:r>
            <a:endParaRPr lang="en-US" sz="3200" dirty="0"/>
          </a:p>
        </p:txBody>
      </p:sp>
      <p:sp>
        <p:nvSpPr>
          <p:cNvPr id="3" name="cartao feature/*"/>
          <p:cNvSpPr/>
          <p:nvPr/>
        </p:nvSpPr>
        <p:spPr>
          <a:xfrm>
            <a:off x="54864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" name="faixa feature/*"/>
          <p:cNvSpPr txBox="1"/>
          <p:nvPr/>
        </p:nvSpPr>
        <p:spPr>
          <a:xfrm>
            <a:off x="548640" y="1417320"/>
            <a:ext cx="356616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 oficina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 vagão: novo ou em melhoria.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Sai do pátio (develop) e volta para o pátio.</a:t>
            </a:r>
            <a:endParaRPr lang="en-US" sz="1500" dirty="0"/>
          </a:p>
        </p:txBody>
      </p:sp>
      <p:sp>
        <p:nvSpPr>
          <p:cNvPr id="8" name="cartao release/*"/>
          <p:cNvSpPr/>
          <p:nvPr/>
        </p:nvSpPr>
        <p:spPr>
          <a:xfrm>
            <a:off x="429768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faixa release/*"/>
          <p:cNvSpPr txBox="1"/>
          <p:nvPr/>
        </p:nvSpPr>
        <p:spPr>
          <a:xfrm>
            <a:off x="4297680" y="1417320"/>
            <a:ext cx="3566160" cy="45720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release/*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 vistoria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517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composição inteira para. Só se conserta; não entra vagão novo.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Sai do pátio, vai para a linha comercial (main) e volta para o pátio.</a:t>
            </a:r>
            <a:endParaRPr lang="en-US" sz="1500" dirty="0"/>
          </a:p>
        </p:txBody>
      </p:sp>
      <p:sp>
        <p:nvSpPr>
          <p:cNvPr id="13" name="cartao hotfix/*"/>
          <p:cNvSpPr/>
          <p:nvPr/>
        </p:nvSpPr>
        <p:spPr>
          <a:xfrm>
            <a:off x="804672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4" name="faixa hotfix/*"/>
          <p:cNvSpPr txBox="1"/>
          <p:nvPr/>
        </p:nvSpPr>
        <p:spPr>
          <a:xfrm>
            <a:off x="8046720" y="1417320"/>
            <a:ext cx="3566160" cy="457200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hotfix/*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 emergência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 vagão: o que deu defeito no trem comercial.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Sai da linha comercial, volta para ela e também para o pátio.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Temporário quer dizer: depois que o trabalho volta, o desvio é desmontado (Diretriz 3).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malha completa</a:t>
            </a:r>
            <a:endParaRPr lang="en-US" sz="3200" dirty="0"/>
          </a:p>
        </p:txBody>
      </p:sp>
      <p:pic>
        <p:nvPicPr>
          <p:cNvPr id="3" name="figura malha-trens" descr="A malha do GitFlow com o que roda em cada trilh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88720"/>
            <a:ext cx="10424160" cy="44931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De onde sai, para onde vai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834640"/>
                <a:gridCol w="155448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Trilho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 ferrovia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que roda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de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para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main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comercial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trem completo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develop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pátio de montagem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próxima composição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feature/*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oficina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 vagão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release/*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vistoria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composição inteira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e 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hotfix/*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emergência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 vagão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e 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regra de ouro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1663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Regra de ouro: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que entra na linha comercial volta também para o pátio. Senão, a próxima composição sai com o defeito de novo.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nome diz o trilho</a:t>
            </a:r>
            <a:endParaRPr lang="en-US" sz="3200" dirty="0"/>
          </a:p>
        </p:txBody>
      </p:sp>
      <p:sp>
        <p:nvSpPr>
          <p:cNvPr id="3" name="cor main"/>
          <p:cNvSpPr/>
          <p:nvPr/>
        </p:nvSpPr>
        <p:spPr>
          <a:xfrm>
            <a:off x="548640" y="1463040"/>
            <a:ext cx="109728" cy="5669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46304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linha comercial</a:t>
            </a:r>
            <a:endParaRPr lang="en-US" sz="1800" dirty="0"/>
          </a:p>
        </p:txBody>
      </p:sp>
      <p:sp>
        <p:nvSpPr>
          <p:cNvPr id="6" name="cor develop"/>
          <p:cNvSpPr/>
          <p:nvPr/>
        </p:nvSpPr>
        <p:spPr>
          <a:xfrm>
            <a:off x="548640" y="2212848"/>
            <a:ext cx="109728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1284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21284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 pátio de montagem</a:t>
            </a:r>
            <a:endParaRPr lang="en-US" sz="1800" dirty="0"/>
          </a:p>
        </p:txBody>
      </p:sp>
      <p:sp>
        <p:nvSpPr>
          <p:cNvPr id="9" name="cor feature/cartoes"/>
          <p:cNvSpPr/>
          <p:nvPr/>
        </p:nvSpPr>
        <p:spPr>
          <a:xfrm>
            <a:off x="548640" y="2962656"/>
            <a:ext cx="109728" cy="5669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9626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feature/cartoes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96265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oficina do vagão Cartões</a:t>
            </a:r>
            <a:endParaRPr lang="en-US" sz="1800" dirty="0"/>
          </a:p>
        </p:txBody>
      </p:sp>
      <p:sp>
        <p:nvSpPr>
          <p:cNvPr id="12" name="cor release/2.4.0"/>
          <p:cNvSpPr/>
          <p:nvPr/>
        </p:nvSpPr>
        <p:spPr>
          <a:xfrm>
            <a:off x="548640" y="3712464"/>
            <a:ext cx="109728" cy="5669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7124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release/2.4.0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371246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vistoria da composição 2.4.0</a:t>
            </a:r>
            <a:endParaRPr lang="en-US" sz="1800" dirty="0"/>
          </a:p>
        </p:txBody>
      </p:sp>
      <p:sp>
        <p:nvSpPr>
          <p:cNvPr id="15" name="cor hotfix/2.4.1"/>
          <p:cNvSpPr/>
          <p:nvPr/>
        </p:nvSpPr>
        <p:spPr>
          <a:xfrm>
            <a:off x="548640" y="4462272"/>
            <a:ext cx="109728" cy="5669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4622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hotfix/2.4.1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46227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emergência que gera a 2.4.1</a:t>
            </a:r>
            <a:endParaRPr lang="en-US" sz="1800" dirty="0"/>
          </a:p>
        </p:txBody>
      </p:sp>
      <p:sp>
        <p:nvSpPr>
          <p:cNvPr id="18" name="nomes"/>
          <p:cNvSpPr/>
          <p:nvPr/>
        </p:nvSpPr>
        <p:spPr>
          <a:xfrm>
            <a:off x="548640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Pelo nome, qualquer pessoa sabe o que o trilho é e de onde saiu. Os nomes seguem a Diretriz 11.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1 · Qual trilho?</a:t>
            </a:r>
            <a:endParaRPr lang="en-US" sz="3200" dirty="0"/>
          </a:p>
        </p:txBody>
      </p:sp>
      <p:sp>
        <p:nvSpPr>
          <p:cNvPr id="3" name="numero 1"/>
          <p:cNvSpPr txBox="1"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50876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Nas salas, em grupos de 4 ou 5. Cada grupo tem um quadro com os cinco trilhos e um canto "Não pode!".</a:t>
            </a:r>
            <a:endParaRPr lang="en-US" sz="1800" dirty="0"/>
          </a:p>
        </p:txBody>
      </p:sp>
      <p:sp>
        <p:nvSpPr>
          <p:cNvPr id="5" name="numero 2"/>
          <p:cNvSpPr txBox="1"/>
          <p:nvPr/>
        </p:nvSpPr>
        <p:spPr>
          <a:xfrm>
            <a:off x="548640" y="2514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4688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São 12 cartas com situações do dia a dia de um sistema. Arraste cada carta para o trilho onde ela acontece.</a:t>
            </a:r>
            <a:endParaRPr lang="en-US" sz="1800" dirty="0"/>
          </a:p>
        </p:txBody>
      </p:sp>
      <p:sp>
        <p:nvSpPr>
          <p:cNvPr id="7" name="numero 3"/>
          <p:cNvSpPr txBox="1"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4290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Em cada carta, cole uma etiqueta: de onde o trilho sai e para onde vai.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 min nas salas · 8 min de conversa</a:t>
            </a:r>
            <a:endParaRPr lang="en-US" sz="1800" dirty="0"/>
          </a:p>
        </p:txBody>
      </p:sp>
      <p:sp>
        <p:nvSpPr>
          <p:cNvPr id="10" name="carta exemplo 0"/>
          <p:cNvSpPr/>
          <p:nvPr/>
        </p:nvSpPr>
        <p:spPr>
          <a:xfrm>
            <a:off x="7498080" y="14630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4630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Desde ontem, o app em produção cobra a tarifa em dobro</a:t>
            </a:r>
            <a:endParaRPr lang="en-US" sz="1600" dirty="0"/>
          </a:p>
        </p:txBody>
      </p:sp>
      <p:sp>
        <p:nvSpPr>
          <p:cNvPr id="12" name="carta exemplo 1"/>
          <p:cNvSpPr/>
          <p:nvPr/>
        </p:nvSpPr>
        <p:spPr>
          <a:xfrm>
            <a:off x="7726680" y="292608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55280" y="292608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versão 2.4 vai para a homologação; daqui em diante, só correção</a:t>
            </a:r>
            <a:endParaRPr lang="en-US" sz="1600" dirty="0"/>
          </a:p>
        </p:txBody>
      </p:sp>
      <p:sp>
        <p:nvSpPr>
          <p:cNvPr id="14" name="carta exemplo 2"/>
          <p:cNvSpPr/>
          <p:nvPr/>
        </p:nvSpPr>
        <p:spPr>
          <a:xfrm>
            <a:off x="7498080" y="438912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Os clientes vão poder simular um empréstimo no app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Intervalo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Na volta, trocamos o trem pelo contrato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contrato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Parte 2 · O que fica registrado em cada trilho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Qual destes vale?</a:t>
            </a:r>
            <a:endParaRPr lang="en-US" sz="3200" dirty="0"/>
          </a:p>
        </p:txBody>
      </p:sp>
      <p:sp>
        <p:nvSpPr>
          <p:cNvPr id="3" name="arquivo 0"/>
          <p:cNvSpPr/>
          <p:nvPr/>
        </p:nvSpPr>
        <p:spPr>
          <a:xfrm>
            <a:off x="548640" y="146304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4" name="circulo MdDescription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cone MdDescrip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630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contrato_v1.docx</a:t>
            </a:r>
            <a:endParaRPr lang="en-US" sz="1500" dirty="0"/>
          </a:p>
        </p:txBody>
      </p:sp>
      <p:sp>
        <p:nvSpPr>
          <p:cNvPr id="7" name="arquivo 1"/>
          <p:cNvSpPr/>
          <p:nvPr/>
        </p:nvSpPr>
        <p:spPr>
          <a:xfrm>
            <a:off x="713232" y="233172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8" name="circulo MdDescription"/>
          <p:cNvSpPr/>
          <p:nvPr/>
        </p:nvSpPr>
        <p:spPr>
          <a:xfrm>
            <a:off x="850392" y="242316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cone MdDescrip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523744"/>
            <a:ext cx="301752" cy="3017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90472" y="23317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contrato_v2_juridico.docx</a:t>
            </a:r>
            <a:endParaRPr lang="en-US" sz="1500" dirty="0"/>
          </a:p>
        </p:txBody>
      </p:sp>
      <p:sp>
        <p:nvSpPr>
          <p:cNvPr id="11" name="arquivo 2"/>
          <p:cNvSpPr/>
          <p:nvPr/>
        </p:nvSpPr>
        <p:spPr>
          <a:xfrm>
            <a:off x="877824" y="320040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2" name="circulo MdDescription"/>
          <p:cNvSpPr/>
          <p:nvPr/>
        </p:nvSpPr>
        <p:spPr>
          <a:xfrm>
            <a:off x="1014984" y="329184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cone MdDescrip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39242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55064" y="32004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contrato_FINAL.docx</a:t>
            </a:r>
            <a:endParaRPr lang="en-US" sz="1500" dirty="0"/>
          </a:p>
        </p:txBody>
      </p:sp>
      <p:sp>
        <p:nvSpPr>
          <p:cNvPr id="15" name="arquivo 3"/>
          <p:cNvSpPr/>
          <p:nvPr/>
        </p:nvSpPr>
        <p:spPr>
          <a:xfrm>
            <a:off x="1042416" y="406908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6" name="circulo MdDescription"/>
          <p:cNvSpPr/>
          <p:nvPr/>
        </p:nvSpPr>
        <p:spPr>
          <a:xfrm>
            <a:off x="1179576" y="41605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e MdDescrip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261104"/>
            <a:ext cx="301752" cy="3017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819656" y="4069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contrato_FINAL_v3_revisado.docx</a:t>
            </a:r>
            <a:endParaRPr lang="en-US" sz="1500" dirty="0"/>
          </a:p>
        </p:txBody>
      </p:sp>
      <p:sp>
        <p:nvSpPr>
          <p:cNvPr id="19" name="arquivo 4"/>
          <p:cNvSpPr/>
          <p:nvPr/>
        </p:nvSpPr>
        <p:spPr>
          <a:xfrm>
            <a:off x="1207008" y="493776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20" name="circulo MdDescription"/>
          <p:cNvSpPr/>
          <p:nvPr/>
        </p:nvSpPr>
        <p:spPr>
          <a:xfrm>
            <a:off x="1344168" y="502920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cone MdDescrip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4752" y="5129784"/>
            <a:ext cx="301752" cy="30175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984248" y="49377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contrato_FINAL_v3_JOAO_agora_vai.docx</a:t>
            </a:r>
            <a:endParaRPr lang="en-US" sz="1500" dirty="0"/>
          </a:p>
        </p:txBody>
      </p:sp>
      <p:sp>
        <p:nvSpPr>
          <p:cNvPr id="23" name="perguntas"/>
          <p:cNvSpPr/>
          <p:nvPr/>
        </p:nvSpPr>
        <p:spPr>
          <a:xfrm>
            <a:off x="7315200" y="1463040"/>
            <a:ext cx="4297680" cy="4206240"/>
          </a:xfrm>
          <a:prstGeom prst="roundRect">
            <a:avLst>
              <a:gd name="adj" fmla="val 2609"/>
            </a:avLst>
          </a:prstGeom>
          <a:solidFill>
            <a:schemeClr val="accent5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58952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Ninguém consegue responder</a:t>
            </a:r>
            <a:endParaRPr lang="en-US" sz="1800" dirty="0"/>
          </a:p>
        </p:txBody>
      </p:sp>
      <p:sp>
        <p:nvSpPr>
          <p:cNvPr id="25" name="numero 1"/>
          <p:cNvSpPr txBox="1"/>
          <p:nvPr/>
        </p:nvSpPr>
        <p:spPr>
          <a:xfrm>
            <a:off x="7589520" y="23317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8183880" y="2286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Qual é a versão que vale?</a:t>
            </a:r>
            <a:endParaRPr lang="en-US" sz="1600" dirty="0"/>
          </a:p>
        </p:txBody>
      </p:sp>
      <p:sp>
        <p:nvSpPr>
          <p:cNvPr id="27" name="numero 2"/>
          <p:cNvSpPr txBox="1"/>
          <p:nvPr/>
        </p:nvSpPr>
        <p:spPr>
          <a:xfrm>
            <a:off x="7589520" y="313639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183880" y="30906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Quem mudou a cláusula 7, quando e por quê?</a:t>
            </a:r>
            <a:endParaRPr lang="en-US" sz="1600" dirty="0"/>
          </a:p>
        </p:txBody>
      </p:sp>
      <p:sp>
        <p:nvSpPr>
          <p:cNvPr id="29" name="numero 3"/>
          <p:cNvSpPr txBox="1"/>
          <p:nvPr/>
        </p:nvSpPr>
        <p:spPr>
          <a:xfrm>
            <a:off x="7589520" y="394106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8183880" y="3895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correção do jurídico entrou na versão assinada?</a:t>
            </a:r>
            <a:endParaRPr lang="en-US" sz="1600" dirty="0"/>
          </a:p>
        </p:txBody>
      </p:sp>
      <p:sp>
        <p:nvSpPr>
          <p:cNvPr id="31" name="numero 4"/>
          <p:cNvSpPr txBox="1"/>
          <p:nvPr/>
        </p:nvSpPr>
        <p:spPr>
          <a:xfrm>
            <a:off x="7589520" y="474573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8183880" y="47000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Dá para voltar à versão de antes?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Git guarda cada versão, rubricada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Cada vez que alguém salva uma mudança no Git, nasce um commit: uma versão registrada, com quatro informações que nunca mais se perdem.</a:t>
            </a:r>
            <a:endParaRPr lang="en-US" sz="1800" dirty="0"/>
          </a:p>
        </p:txBody>
      </p:sp>
      <p:sp>
        <p:nvSpPr>
          <p:cNvPr id="4" name="commit Quem"/>
          <p:cNvSpPr/>
          <p:nvPr/>
        </p:nvSpPr>
        <p:spPr>
          <a:xfrm>
            <a:off x="548640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5" name="circulo MdPerson"/>
          <p:cNvSpPr/>
          <p:nvPr/>
        </p:nvSpPr>
        <p:spPr>
          <a:xfrm>
            <a:off x="822960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e MdPers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66090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Quem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Ana Souza</a:t>
            </a:r>
            <a:endParaRPr lang="en-US" sz="1500" dirty="0"/>
          </a:p>
        </p:txBody>
      </p:sp>
      <p:sp>
        <p:nvSpPr>
          <p:cNvPr id="9" name="commit Quando"/>
          <p:cNvSpPr/>
          <p:nvPr/>
        </p:nvSpPr>
        <p:spPr>
          <a:xfrm>
            <a:off x="3355848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10" name="circulo MdSchedule"/>
          <p:cNvSpPr/>
          <p:nvPr/>
        </p:nvSpPr>
        <p:spPr>
          <a:xfrm>
            <a:off x="3630168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e MdSchedu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6609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016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Quando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30168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12/10, 15h42</a:t>
            </a:r>
            <a:endParaRPr lang="en-US" sz="1500" dirty="0"/>
          </a:p>
        </p:txBody>
      </p:sp>
      <p:sp>
        <p:nvSpPr>
          <p:cNvPr id="14" name="commit O quê"/>
          <p:cNvSpPr/>
          <p:nvPr/>
        </p:nvSpPr>
        <p:spPr>
          <a:xfrm>
            <a:off x="6163056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15" name="circulo MdEditNote"/>
          <p:cNvSpPr/>
          <p:nvPr/>
        </p:nvSpPr>
        <p:spPr>
          <a:xfrm>
            <a:off x="6437376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e MdEditNo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66090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37376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quê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437376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cláusula 7, multa por atraso</a:t>
            </a:r>
            <a:endParaRPr lang="en-US" sz="1500" dirty="0"/>
          </a:p>
        </p:txBody>
      </p:sp>
      <p:sp>
        <p:nvSpPr>
          <p:cNvPr id="19" name="commit Por quê"/>
          <p:cNvSpPr/>
          <p:nvPr/>
        </p:nvSpPr>
        <p:spPr>
          <a:xfrm>
            <a:off x="8970264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20" name="circulo MdChat"/>
          <p:cNvSpPr/>
          <p:nvPr/>
        </p:nvSpPr>
        <p:spPr>
          <a:xfrm>
            <a:off x="9244584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e MdCha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0888" y="266090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44584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Por quê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244584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multa de 2% pedida pelo jurídico</a:t>
            </a:r>
            <a:endParaRPr lang="en-US" sz="1500" dirty="0"/>
          </a:p>
        </p:txBody>
      </p:sp>
      <p:sp>
        <p:nvSpPr>
          <p:cNvPr id="24" name="carimbo"/>
          <p:cNvSpPr txBox="1"/>
          <p:nvPr/>
        </p:nvSpPr>
        <p:spPr>
          <a:xfrm rot="-120000">
            <a:off x="548640" y="5074920"/>
            <a:ext cx="3657600" cy="457200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= versão rubricada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0" y="4983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Repositório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a pasta do contrato com todas as versões, para sempre. Dá para comparar duas versões e voltar a qualquer uma.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Os trilhos viram linhas do tempo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280160"/>
            <a:ext cx="11064240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</p:spPr>
      </p:sp>
      <p:pic>
        <p:nvPicPr>
          <p:cNvPr id="4" name="figura linha-do-tempo" descr="Uma linha do tempo com versões rubricadas, uma cópia que sai e volta a ser incorpor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325880"/>
            <a:ext cx="9235440" cy="30345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Linha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uma cópia de trabalho do contrato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Bolinha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commit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uma versão rubricada, na ordem do tempo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Junção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cópia incorporada à linha de onde saiu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mesma malha, no contrato</a:t>
            </a:r>
            <a:endParaRPr lang="en-US" sz="3200" dirty="0"/>
          </a:p>
        </p:txBody>
      </p:sp>
      <p:pic>
        <p:nvPicPr>
          <p:cNvPr id="3" name="figura malha-contrato" descr="A malha do GitFlow como linha do tempo do contr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8595360" cy="40806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0" y="14630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O vagão virou cláusula.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feature é uma área redigindo uma cláusula; a release, a versão para assinatura; o hotfix, o aditivo urgente.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402336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 etiqueta laranja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é o número da versão que foi para produção: a tag.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Os tipos de merge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Quatro jeitos de incorporar uma cópia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Antes de juntar: a minuta andou?</a:t>
            </a:r>
            <a:endParaRPr lang="en-US" sz="3200" dirty="0"/>
          </a:p>
        </p:txBody>
      </p:sp>
      <p:sp>
        <p:nvSpPr>
          <p:cNvPr id="3" name="lado Não andou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antes-ff" descr="merge-antes-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74920" cy="19937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Não andou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1148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Ninguém mexeu na develop desde que a cópia saiu de B. Basta a cópia virar a minuta.</a:t>
            </a:r>
            <a:endParaRPr lang="en-US" sz="1700" dirty="0"/>
          </a:p>
        </p:txBody>
      </p:sp>
      <p:sp>
        <p:nvSpPr>
          <p:cNvPr id="7" name="lado Andou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8" name="figura merge-antes" descr="merge-a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54480"/>
            <a:ext cx="5074920" cy="199371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Andou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41148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Enquanto a cláusula era redigida, a develop recebeu C. É preciso escolher como juntar.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 pergunta: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alguém mexeu na minuta desde que você tirou a sua cópia?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Fast-forward: a cópia vira a minuta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ff" descr="merge-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Ninguém mexeu na minuta desde a sua cópia: a sua cópia passa a ser a minuta.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linha reta: A, B, F1, F2. Não fica registro de que houve uma cópia.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Quando a minuta não andou. Nenhuma versão nova é criada.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a informação de que F1 e F2 eram um bloco de trabalho.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Merge commit: a junção registrada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commit" descr="merge-comm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cláusula entra com todas as versões e uma anotação: "incorporada em 12/10, aprovada por…".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Tudo: A, B, C, F1, F2 e a junção M. Dá para ver quando a cópia saiu e quando voltou.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Rastrear quando e como cada cláusula entrou.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muitas cópias, o histórico fica trançado e mais difícil de ler.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Squash: passar a limpo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squash" descr="merge-squ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Entra só o texto final da cláusula, sem os rascunhos.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A, B, C e uma versão nova, F1+F2. As versões intermediárias não aparecem na develop.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Cópias com muitas versões pequenas: "ajuste", "ajuste 2", "agora vai".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Perde o passo a passo. E a cópia não deve ser usada depois: deve ser apagada.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Rebase: refazer sobre a minuta atual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rebase" descr="merge-re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Refazer a sua cópia em cima da minuta mais recente, antes de pedir o visto.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linha reta. F1′ e F2′ são versões novas: mesmo conteúdo, outra identidade e outra data.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Atualizar a própria cópia, que só você usa.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Reescreve a história. Nunca numa linha que outras pessoas usam, como a main e a develop.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Lado a lado</a:t>
            </a:r>
            <a:endParaRPr lang="en-US" sz="3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2377440"/>
                <a:gridCol w="2468880"/>
                <a:gridCol w="19202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Tipo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histórico mostra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contrato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Bom para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Cuidado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Fast-forward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reta, sem a cópia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cópia vira a minuta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quando a minuta não andou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perde o desenho da cópia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Merge commit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tudo, com a junção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cláusula com todas as versões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rastrear quando e como entrou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histórico trançado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Squash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uma versão por entrega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passar a limpo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cópias com muitas versões pequenas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perde o passo a passo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reta, versões novas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refazer sobre a minuta atual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atualizar a própria cópia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reescreve a história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Todos levam o mesmo conteúdo para a develop. O que muda é a história que fica registrada.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Os botões que você vai ver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Tipo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GitHub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Azure DevOps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Merge commit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 a merge commit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Merge (no fast forward)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Squash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Squash and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Squash commit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 + fast-forward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Rebase and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Rebase and fast-forward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 + merge commit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Semi-linear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quem decide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45720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Quem escolhe o tipo?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política de cada repositório, que pode deixar só alguns botões ligados. No GitFlow original, as junções são merge commit. Na dúvida, pergunte ao Integrador (Diretriz 6).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Conflito: duas áreas na mesma cláusula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conflito" descr="Conflito: a develop mudou a multa para 1% e a cópia mudou a mesma multa para 2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circulo MdWarning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cone MdWarni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Mudou dos dois lados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874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jurídico pôs multa de 2%; o comercial, de 1%. O Git não escolhe.</a:t>
            </a:r>
            <a:endParaRPr lang="en-US" sz="1500" dirty="0"/>
          </a:p>
        </p:txBody>
      </p:sp>
      <p:sp>
        <p:nvSpPr>
          <p:cNvPr id="9" name="circulo MdQuestionAnswer"/>
          <p:cNvSpPr/>
          <p:nvPr/>
        </p:nvSpPr>
        <p:spPr>
          <a:xfrm>
            <a:off x="6537960" y="2788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QuestionAnsw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06640" y="27889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Quem decide é uma pessoa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406640" y="32004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Às vezes é técnico; muitas vezes é de negócio. Pode ser você.</a:t>
            </a:r>
            <a:endParaRPr lang="en-US" sz="1500" dirty="0"/>
          </a:p>
        </p:txBody>
      </p:sp>
      <p:sp>
        <p:nvSpPr>
          <p:cNvPr id="13" name="circulo MdTimer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Tim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251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06640" y="4114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Cópia curta, menos conflito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7406640" y="4526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Quanto mais tempo longe da minuta, maior a chance (Diretriz 4).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Integrador é o ponto focal nos conflitos complexos (Diretriz 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2 · Qual foi o merge?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Rodadas 1 a 4: compare com os dois "antes" do slide da pergunta "a minuta andou?". Qual merge produziu cada "depois"?</a:t>
            </a:r>
            <a:endParaRPr lang="en-US" sz="1700" dirty="0"/>
          </a:p>
        </p:txBody>
      </p:sp>
      <p:sp>
        <p:nvSpPr>
          <p:cNvPr id="4" name="rodada 1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5" name="numero 1"/>
          <p:cNvSpPr txBox="1"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pic>
        <p:nvPicPr>
          <p:cNvPr id="6" name="figura merge-squash" descr="merge-squ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874520"/>
            <a:ext cx="4206240" cy="1652451"/>
          </a:xfrm>
          <a:prstGeom prst="rect">
            <a:avLst/>
          </a:prstGeom>
        </p:spPr>
      </p:pic>
      <p:sp>
        <p:nvSpPr>
          <p:cNvPr id="7" name="rodada 2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8" name="numero 2"/>
          <p:cNvSpPr txBox="1"/>
          <p:nvPr/>
        </p:nvSpPr>
        <p:spPr>
          <a:xfrm>
            <a:off x="6309360" y="1920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pic>
        <p:nvPicPr>
          <p:cNvPr id="9" name="figura merge-ff" descr="merge-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74520"/>
            <a:ext cx="4206240" cy="1652451"/>
          </a:xfrm>
          <a:prstGeom prst="rect">
            <a:avLst/>
          </a:prstGeom>
        </p:spPr>
      </p:pic>
      <p:sp>
        <p:nvSpPr>
          <p:cNvPr id="10" name="rodada 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11" name="numero 3"/>
          <p:cNvSpPr txBox="1"/>
          <p:nvPr/>
        </p:nvSpPr>
        <p:spPr>
          <a:xfrm>
            <a:off x="68580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pic>
        <p:nvPicPr>
          <p:cNvPr id="12" name="figura merge-rebase" descr="merge-re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114800"/>
            <a:ext cx="4206240" cy="1652451"/>
          </a:xfrm>
          <a:prstGeom prst="rect">
            <a:avLst/>
          </a:prstGeom>
        </p:spPr>
      </p:pic>
      <p:sp>
        <p:nvSpPr>
          <p:cNvPr id="13" name="rodada 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14" name="numero 4"/>
          <p:cNvSpPr txBox="1"/>
          <p:nvPr/>
        </p:nvSpPr>
        <p:spPr>
          <a:xfrm>
            <a:off x="630936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pic>
        <p:nvPicPr>
          <p:cNvPr id="15" name="figura merge-commit" descr="merge-comm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4114800"/>
            <a:ext cx="4206240" cy="165245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Rodadas 5 a 8: qual você escolheria?</a:t>
            </a:r>
            <a:endParaRPr lang="en-US" sz="3200" dirty="0"/>
          </a:p>
        </p:txBody>
      </p:sp>
      <p:sp>
        <p:nvSpPr>
          <p:cNvPr id="3" name="situacao 5"/>
          <p:cNvSpPr/>
          <p:nvPr/>
        </p:nvSpPr>
        <p:spPr>
          <a:xfrm>
            <a:off x="54864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4" name="numero 5"/>
          <p:cNvSpPr txBox="1"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4592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Quero que o histórico mostre quando a cláusula de multa entrou e todas as versões dela até ficar pronta.</a:t>
            </a:r>
            <a:endParaRPr lang="en-US" sz="1700" dirty="0"/>
          </a:p>
        </p:txBody>
      </p:sp>
      <p:sp>
        <p:nvSpPr>
          <p:cNvPr id="6" name="situacao 6"/>
          <p:cNvSpPr/>
          <p:nvPr/>
        </p:nvSpPr>
        <p:spPr>
          <a:xfrm>
            <a:off x="617220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7" name="numero 6"/>
          <p:cNvSpPr txBox="1"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64592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minha cópia tem 14 versões chamadas "ajuste", "ajuste 2" e "agora vai". Quero que entre só o resultado.</a:t>
            </a:r>
            <a:endParaRPr lang="en-US" sz="1700" dirty="0"/>
          </a:p>
        </p:txBody>
      </p:sp>
      <p:sp>
        <p:nvSpPr>
          <p:cNvPr id="9" name="situacao 7"/>
          <p:cNvSpPr/>
          <p:nvPr/>
        </p:nvSpPr>
        <p:spPr>
          <a:xfrm>
            <a:off x="54864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10" name="numero 7"/>
          <p:cNvSpPr txBox="1"/>
          <p:nvPr/>
        </p:nvSpPr>
        <p:spPr>
          <a:xfrm>
            <a:off x="777240" y="3931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8620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develop andou muito desde que comecei. Antes de pedir a aprovação, quero refazer o meu trabalho em cima da versão mais recente.</a:t>
            </a:r>
            <a:endParaRPr lang="en-US" sz="1700" dirty="0"/>
          </a:p>
        </p:txBody>
      </p:sp>
      <p:sp>
        <p:nvSpPr>
          <p:cNvPr id="12" name="situacao 8"/>
          <p:cNvSpPr/>
          <p:nvPr/>
        </p:nvSpPr>
        <p:spPr>
          <a:xfrm>
            <a:off x="617220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13" name="numero 8"/>
          <p:cNvSpPr txBox="1"/>
          <p:nvPr/>
        </p:nvSpPr>
        <p:spPr>
          <a:xfrm>
            <a:off x="6400800" y="3931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88620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Ninguém mexeu na develop desde que comecei. Quero juntar sem criar versão nova.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Fast-forward · Merge commit · Squash · Rebase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Versões e regras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As regras do Modelo VIC: quem libera, o que volta e como se numera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Nada entra sem visto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visto-pr" descr="O visto do pull request: a cópia só entra na develop depois da aprovação e da completu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5394960" cy="1888236"/>
          </a:xfrm>
          <a:prstGeom prst="rect">
            <a:avLst/>
          </a:prstGeom>
        </p:spPr>
      </p:pic>
      <p:sp>
        <p:nvSpPr>
          <p:cNvPr id="5" name="circulo MdLock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cone Md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Mudança direta é bloqueada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874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Ninguém escreve direto na main nem na develop (Diretriz 7).</a:t>
            </a:r>
            <a:endParaRPr lang="en-US" sz="1500" dirty="0"/>
          </a:p>
        </p:txBody>
      </p:sp>
      <p:sp>
        <p:nvSpPr>
          <p:cNvPr id="9" name="circulo MdCheckCircle"/>
          <p:cNvSpPr/>
          <p:nvPr/>
        </p:nvSpPr>
        <p:spPr>
          <a:xfrm>
            <a:off x="6537960" y="2788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CheckCirc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06640" y="27889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 · Aprovação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406640" y="32004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Os revisores do time conferem o pull request, como o visto do jurídico.</a:t>
            </a:r>
            <a:endParaRPr lang="en-US" sz="1500" dirty="0"/>
          </a:p>
        </p:txBody>
      </p:sp>
      <p:sp>
        <p:nvSpPr>
          <p:cNvPr id="13" name="circulo MdMergeType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MergeTyp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251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06640" y="4114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 · Completude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7406640" y="4526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Integrador efetiva o merge, como quem protocola a versão (Diretriz 8).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Pull request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o pedido de visto: fica guardado como a ata da decisão.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volta obrigatória: merge back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630936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</p:sp>
      <p:pic>
        <p:nvPicPr>
          <p:cNvPr id="4" name="figura merge-back" descr="Merge back: a release entra na main e volta para a develop com a corre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6035040" cy="2662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78040" y="146304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Toda release e todo hotfix que entram na main voltam para a develop.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260604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contrato: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aditivo assinado precisa entrar também na minuta da próxima versão. Senão, a próxima versão sai sem o aditivo.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402336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Lembra do trem?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a regra de ouro: o conserto volta também para o pátio.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É obrigatório ao fim de cada ciclo (Diretriz 5).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número da versão</a:t>
            </a:r>
            <a:endParaRPr lang="en-US" sz="3200" dirty="0"/>
          </a:p>
        </p:txBody>
      </p:sp>
      <p:sp>
        <p:nvSpPr>
          <p:cNvPr id="3" name="parte MAJOR"/>
          <p:cNvSpPr txBox="1"/>
          <p:nvPr/>
        </p:nvSpPr>
        <p:spPr>
          <a:xfrm>
            <a:off x="548640" y="1417320"/>
            <a:ext cx="2624328" cy="10972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MAJOR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 o que já valia: quem dependia precisa se adaptar.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 contrato renegociado</a:t>
            </a:r>
            <a:endParaRPr lang="en-US" sz="1400" dirty="0"/>
          </a:p>
        </p:txBody>
      </p:sp>
      <p:sp>
        <p:nvSpPr>
          <p:cNvPr id="7" name="parte MINOR"/>
          <p:cNvSpPr txBox="1"/>
          <p:nvPr/>
        </p:nvSpPr>
        <p:spPr>
          <a:xfrm>
            <a:off x="3355848" y="1417320"/>
            <a:ext cx="2624328" cy="10972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MINOR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Novidade que não muda o que já existia.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uma cláusula nova</a:t>
            </a:r>
            <a:endParaRPr lang="en-US" sz="1400" dirty="0"/>
          </a:p>
        </p:txBody>
      </p:sp>
      <p:sp>
        <p:nvSpPr>
          <p:cNvPr id="11" name="parte PATCH"/>
          <p:cNvSpPr txBox="1"/>
          <p:nvPr/>
        </p:nvSpPr>
        <p:spPr>
          <a:xfrm>
            <a:off x="6163056" y="1417320"/>
            <a:ext cx="2624328" cy="109728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163056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54496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Correção, sem novidade.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54496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 erro de redação corrigido</a:t>
            </a:r>
            <a:endParaRPr lang="en-US" sz="1400" dirty="0"/>
          </a:p>
        </p:txBody>
      </p:sp>
      <p:sp>
        <p:nvSpPr>
          <p:cNvPr id="15" name="parte BUILD"/>
          <p:cNvSpPr txBox="1"/>
          <p:nvPr/>
        </p:nvSpPr>
        <p:spPr>
          <a:xfrm>
            <a:off x="8970264" y="1417320"/>
            <a:ext cx="2624328" cy="109728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121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061704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Qual montagem daquela versão foi para produção.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061704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 número da via protocolada</a:t>
            </a:r>
            <a:endParaRPr lang="en-US" sz="1400" dirty="0"/>
          </a:p>
        </p:txBody>
      </p:sp>
      <p:sp>
        <p:nvSpPr>
          <p:cNvPr id="19" name="semver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8463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v2.4.1.121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três primeiras partes são o SemVer (Diretriz 9); a quarta, o BUILD, completa o Padrão VEC, obrigatório em produção (Diretriz 10). Cada versão publicada tem a sua nota de versão (Diretriz 13).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Cópia curta, junção frequente</a:t>
            </a:r>
            <a:endParaRPr lang="en-US" sz="3200" dirty="0"/>
          </a:p>
        </p:txBody>
      </p:sp>
      <p:sp>
        <p:nvSpPr>
          <p:cNvPr id="3" name="pratica Sincronize"/>
          <p:cNvSpPr/>
          <p:nvPr/>
        </p:nvSpPr>
        <p:spPr>
          <a:xfrm>
            <a:off x="54864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4" name="circulo MdSync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 MdSyn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922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Sincronize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Traga a develop para a sua cópia com frequência. Quanto mais a minuta anda sem você, maior o risco de conflito.</a:t>
            </a:r>
            <a:endParaRPr lang="en-US" sz="1500" dirty="0"/>
          </a:p>
        </p:txBody>
      </p:sp>
      <p:sp>
        <p:nvSpPr>
          <p:cNvPr id="8" name="pratica Junte cedo"/>
          <p:cNvSpPr/>
          <p:nvPr/>
        </p:nvSpPr>
        <p:spPr>
          <a:xfrm>
            <a:off x="429768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9" name="circulo MdMergeType"/>
          <p:cNvSpPr/>
          <p:nvPr/>
        </p:nvSpPr>
        <p:spPr>
          <a:xfrm>
            <a:off x="457200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MergeTyp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179222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Junte cedo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Cópia que demora represa trabalho fora da minuta. Entregue em partes menores.</a:t>
            </a:r>
            <a:endParaRPr lang="en-US" sz="1500" dirty="0"/>
          </a:p>
        </p:txBody>
      </p:sp>
      <p:sp>
        <p:nvSpPr>
          <p:cNvPr id="13" name="pratica Apague"/>
          <p:cNvSpPr/>
          <p:nvPr/>
        </p:nvSpPr>
        <p:spPr>
          <a:xfrm>
            <a:off x="804672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14" name="circulo MdDeleteSweep"/>
          <p:cNvSpPr/>
          <p:nvPr/>
        </p:nvSpPr>
        <p:spPr>
          <a:xfrm>
            <a:off x="832104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 MdDeleteSwee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17922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Apague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Depois de juntar, a cópia é apagada. O repositório só tem branches em uso (Diretriz 3).</a:t>
            </a:r>
            <a:endParaRPr lang="en-US" sz="15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2103120"/>
                <a:gridCol w="2103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Meta institucional (faixa 3, Diretriz 4)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release/*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hotfix/*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Vida total da branch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15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10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3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Tempo sem sincronizar com a develop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5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que você viu hoje no Modelo VIC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Diretriz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 uma frase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· Modelo GitFlow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 cinco trilhos, de onde saem e para onde vão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· Integração contínua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branch temporária é apagada depois da junção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· Divergência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cópia curta, junção frequente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· Merge back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que entra na main volta para a develop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e 8 · Integrador e PR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nada entra sem visto: aprovação e completude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· Proteção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ninguém mexe direto na main nem na develop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9, 10 e 11 · Versões e nomes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número da versão e o nome de cada trilho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 · Nota de versão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quadro de alterações de cada versão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3 · A vida de uma versão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Contratos Online, em produção na v2.3.0.97. Desenhe as linhas do tempo na ordem dos eventos.</a:t>
            </a:r>
            <a:endParaRPr lang="en-US" sz="1600" dirty="0"/>
          </a:p>
        </p:txBody>
      </p:sp>
      <p:sp>
        <p:nvSpPr>
          <p:cNvPr id="4" name="numero 1"/>
          <p:cNvSpPr txBox="1"/>
          <p:nvPr/>
        </p:nvSpPr>
        <p:spPr>
          <a:xfrm>
            <a:off x="548640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64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equipe A começa a assinatura digital.</a:t>
            </a:r>
            <a:endParaRPr lang="en-US" sz="1400" dirty="0"/>
          </a:p>
        </p:txBody>
      </p:sp>
      <p:sp>
        <p:nvSpPr>
          <p:cNvPr id="6" name="numero 2"/>
          <p:cNvSpPr txBox="1"/>
          <p:nvPr/>
        </p:nvSpPr>
        <p:spPr>
          <a:xfrm>
            <a:off x="548640" y="2313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95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equipe B começa o alerta de vencimento.</a:t>
            </a:r>
            <a:endParaRPr lang="en-US" sz="1400" dirty="0"/>
          </a:p>
        </p:txBody>
      </p:sp>
      <p:sp>
        <p:nvSpPr>
          <p:cNvPr id="8" name="numero 3"/>
          <p:cNvSpPr txBox="1"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254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assinatura digital fica pronta; o PR é aprovado e concluído.</a:t>
            </a:r>
            <a:endParaRPr lang="en-US" sz="1400" dirty="0"/>
          </a:p>
        </p:txBody>
      </p:sp>
      <p:sp>
        <p:nvSpPr>
          <p:cNvPr id="10" name="numero 4"/>
          <p:cNvSpPr txBox="1"/>
          <p:nvPr/>
        </p:nvSpPr>
        <p:spPr>
          <a:xfrm>
            <a:off x="548640" y="33741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5584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versão 2.4.0 vai para homologação, com a assinatura. O alerta ainda não está pronto.</a:t>
            </a:r>
            <a:endParaRPr lang="en-US" sz="1400" dirty="0"/>
          </a:p>
        </p:txBody>
      </p:sp>
      <p:sp>
        <p:nvSpPr>
          <p:cNvPr id="12" name="numero 5"/>
          <p:cNvSpPr txBox="1"/>
          <p:nvPr/>
        </p:nvSpPr>
        <p:spPr>
          <a:xfrm>
            <a:off x="548640" y="39044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886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homologação, aparece um erro de texto; é corrigido.</a:t>
            </a:r>
            <a:endParaRPr lang="en-US" sz="1400" dirty="0"/>
          </a:p>
        </p:txBody>
      </p:sp>
      <p:sp>
        <p:nvSpPr>
          <p:cNvPr id="14" name="numero 6"/>
          <p:cNvSpPr txBox="1"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1655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homologação aprova: a versão entra em produção (build 118).</a:t>
            </a:r>
            <a:endParaRPr lang="en-US" sz="1400" dirty="0"/>
          </a:p>
        </p:txBody>
      </p:sp>
      <p:sp>
        <p:nvSpPr>
          <p:cNvPr id="16" name="numero 7"/>
          <p:cNvSpPr txBox="1"/>
          <p:nvPr/>
        </p:nvSpPr>
        <p:spPr>
          <a:xfrm>
            <a:off x="548640" y="49651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46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dia seguinte, a multa por atraso sai errada em produção; a correção sai no mesmo dia (build 121).</a:t>
            </a:r>
            <a:endParaRPr lang="en-US" sz="1400" dirty="0"/>
          </a:p>
        </p:txBody>
      </p:sp>
      <p:sp>
        <p:nvSpPr>
          <p:cNvPr id="18" name="numero 8"/>
          <p:cNvSpPr txBox="1"/>
          <p:nvPr/>
        </p:nvSpPr>
        <p:spPr>
          <a:xfrm>
            <a:off x="548640" y="54955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4772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alerta de vencimento fica pronto e entra para a próxima versão.</a:t>
            </a:r>
            <a:endParaRPr lang="en-US" sz="1400" dirty="0"/>
          </a:p>
        </p:txBody>
      </p:sp>
      <p:sp>
        <p:nvSpPr>
          <p:cNvPr id="20" name="perguntas"/>
          <p:cNvSpPr/>
          <p:nvPr/>
        </p:nvSpPr>
        <p:spPr>
          <a:xfrm>
            <a:off x="7406640" y="1783080"/>
            <a:ext cx="4206240" cy="4206240"/>
          </a:xfrm>
          <a:prstGeom prst="roundRect">
            <a:avLst>
              <a:gd name="adj" fmla="val 2609"/>
            </a:avLst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Responda também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42316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branches temporárias existiram, e com que nome?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números de versão a main recebeu?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 que versão o alerta chega aos clientes?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que aconteceria sem o merge back do evento 7?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tipo de merge você usaria no evento 3?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 min nas salas · 10 min de conversa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Voltando à enquete</a:t>
            </a:r>
            <a:endParaRPr lang="en-US" sz="3200" dirty="0"/>
          </a:p>
        </p:txBody>
      </p:sp>
      <p:sp>
        <p:nvSpPr>
          <p:cNvPr id="3" name="resposta A"/>
          <p:cNvSpPr/>
          <p:nvPr/>
        </p:nvSpPr>
        <p:spPr>
          <a:xfrm>
            <a:off x="548640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Parar o trem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233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os clientes ficam a pé</a:t>
            </a:r>
            <a:endParaRPr lang="en-US" sz="1600" dirty="0"/>
          </a:p>
        </p:txBody>
      </p:sp>
      <p:sp>
        <p:nvSpPr>
          <p:cNvPr id="8" name="resposta B"/>
          <p:cNvSpPr/>
          <p:nvPr/>
        </p:nvSpPr>
        <p:spPr>
          <a:xfrm>
            <a:off x="3355848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30168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3630168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Reformar com o trem andando</a:t>
            </a:r>
            <a:endParaRPr lang="en-US" sz="2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40233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78808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é mexer direto em produção</a:t>
            </a:r>
            <a:endParaRPr lang="en-US" sz="1600" dirty="0"/>
          </a:p>
        </p:txBody>
      </p:sp>
      <p:sp>
        <p:nvSpPr>
          <p:cNvPr id="13" name="resposta C"/>
          <p:cNvSpPr/>
          <p:nvPr/>
        </p:nvSpPr>
        <p:spPr>
          <a:xfrm>
            <a:off x="6163056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accent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37376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C</a:t>
            </a:r>
            <a:endParaRPr lang="en-US" sz="4800" dirty="0"/>
          </a:p>
        </p:txBody>
      </p:sp>
      <p:sp>
        <p:nvSpPr>
          <p:cNvPr id="15" name="Text 11"/>
          <p:cNvSpPr txBox="1"/>
          <p:nvPr/>
        </p:nvSpPr>
        <p:spPr>
          <a:xfrm>
            <a:off x="6437376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Desvio e engate</a:t>
            </a:r>
            <a:endParaRPr lang="en-US" sz="2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402336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86016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 a branch</a:t>
            </a:r>
            <a:endParaRPr lang="en-US" sz="1600" dirty="0"/>
          </a:p>
        </p:txBody>
      </p:sp>
      <p:sp>
        <p:nvSpPr>
          <p:cNvPr id="18" name="resposta D"/>
          <p:cNvSpPr/>
          <p:nvPr/>
        </p:nvSpPr>
        <p:spPr>
          <a:xfrm>
            <a:off x="8970264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244584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20" name="Text 15"/>
          <p:cNvSpPr txBox="1"/>
          <p:nvPr/>
        </p:nvSpPr>
        <p:spPr>
          <a:xfrm>
            <a:off x="9244584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Trem novo a cada mudança</a:t>
            </a:r>
            <a:endParaRPr lang="en-US" sz="2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4584" y="402336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793224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caro, e o problema volta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Repita a enquete e compare com o começo.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Perguntas que você já pode fazer ao time</a:t>
            </a:r>
            <a:endParaRPr lang="en-US" sz="3200" dirty="0"/>
          </a:p>
        </p:txBody>
      </p:sp>
      <p:sp>
        <p:nvSpPr>
          <p:cNvPr id="3" name="pergunta 1"/>
          <p:cNvSpPr/>
          <p:nvPr/>
        </p:nvSpPr>
        <p:spPr>
          <a:xfrm>
            <a:off x="548640" y="14173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81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Isso já está na main ou só na develop?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Já vale para o cliente, ou só na próxima versão?</a:t>
            </a:r>
            <a:endParaRPr lang="en-US" sz="1500" dirty="0"/>
          </a:p>
        </p:txBody>
      </p:sp>
      <p:sp>
        <p:nvSpPr>
          <p:cNvPr id="6" name="pergunta 2"/>
          <p:cNvSpPr/>
          <p:nvPr/>
        </p:nvSpPr>
        <p:spPr>
          <a:xfrm>
            <a:off x="6172200" y="14173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581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Entra nesta release ou na próxima?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vistoria já começou? Então só entra correção.</a:t>
            </a:r>
            <a:endParaRPr lang="en-US" sz="1500" dirty="0"/>
          </a:p>
        </p:txBody>
      </p:sp>
      <p:sp>
        <p:nvSpPr>
          <p:cNvPr id="9" name="pergunta 3"/>
          <p:cNvSpPr/>
          <p:nvPr/>
        </p:nvSpPr>
        <p:spPr>
          <a:xfrm>
            <a:off x="548640" y="28803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0449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É hotfix ou pode esperar?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Hotfix é emergência em produção, não atalho.</a:t>
            </a:r>
            <a:endParaRPr lang="en-US" sz="1500" dirty="0"/>
          </a:p>
        </p:txBody>
      </p:sp>
      <p:sp>
        <p:nvSpPr>
          <p:cNvPr id="12" name="pergunta 4"/>
          <p:cNvSpPr/>
          <p:nvPr/>
        </p:nvSpPr>
        <p:spPr>
          <a:xfrm>
            <a:off x="6172200" y="28803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449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Qual é a versão em produção?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20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número diz o tamanho da mudança.</a:t>
            </a:r>
            <a:endParaRPr lang="en-US" sz="1500" dirty="0"/>
          </a:p>
        </p:txBody>
      </p:sp>
      <p:sp>
        <p:nvSpPr>
          <p:cNvPr id="15" name="pergunta 5"/>
          <p:cNvSpPr/>
          <p:nvPr/>
        </p:nvSpPr>
        <p:spPr>
          <a:xfrm>
            <a:off x="548640" y="434340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Fizeram o merge back?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Senão, a correção some na próxima versão.</a:t>
            </a:r>
            <a:endParaRPr lang="en-US" sz="1500" dirty="0"/>
          </a:p>
        </p:txBody>
      </p:sp>
      <p:sp>
        <p:nvSpPr>
          <p:cNvPr id="18" name="pergunta 6"/>
          <p:cNvSpPr/>
          <p:nvPr/>
        </p:nvSpPr>
        <p:spPr>
          <a:xfrm>
            <a:off x="6172200" y="434340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4507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Há quanto tempo essa branch está aberta?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Cópia longa, junção difícil.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Para levar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15544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Cada trabalho no seu trilho: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a main é o trem com passageiros, a develop é a próxima composição, os desvios são temporários.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Juntar é escolher a história: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fast-forward, merge commit, squash ou rebase levam o mesmo conteúdo.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976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Tudo o que chega à main volta para a develop: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sem merge back, a correção se perde.</a:t>
            </a:r>
            <a:endParaRPr lang="en-US" sz="2600" dirty="0"/>
          </a:p>
        </p:txBody>
      </p:sp>
      <p:sp>
        <p:nvSpPr>
          <p:cNvPr id="9" name="circulo MdDownload"/>
          <p:cNvSpPr/>
          <p:nvPr/>
        </p:nvSpPr>
        <p:spPr>
          <a:xfrm>
            <a:off x="548640" y="5623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Downlo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73328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5623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cartilha de bolso vai no chat: os cinco trilhos, os quatro merges e o número da versão, numa página.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Cada trabalho no seu trilho.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Dúvidas? O chat continua aberto.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odelo VIC">
      <a:dk1>
        <a:srgbClr val="22292E"/>
      </a:dk1>
      <a:lt1>
        <a:srgbClr val="FFFFFF"/>
      </a:lt1>
      <a:dk2>
        <a:srgbClr val="00437A"/>
      </a:dk2>
      <a:lt2>
        <a:srgbClr val="F5F8FA"/>
      </a:lt2>
      <a:accent1>
        <a:srgbClr val="005CA9"/>
      </a:accent1>
      <a:accent2>
        <a:srgbClr val="F39200"/>
      </a:accent2>
      <a:accent3>
        <a:srgbClr val="21CAAF"/>
      </a:accent3>
      <a:accent4>
        <a:srgbClr val="D93636"/>
      </a:accent4>
      <a:accent5>
        <a:srgbClr val="E5F2FC"/>
      </a:accent5>
      <a:accent6>
        <a:srgbClr val="525F66"/>
      </a:accent6>
      <a:hlink>
        <a:srgbClr val="005CA9"/>
      </a:hlink>
      <a:folHlink>
        <a:srgbClr val="525F66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CAIXA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Nos trilhos do GitFlow — branches, merges e o Modelo VIC</dc:title>
  <dc:subject>PptxGenJS Presentation</dc:subject>
  <dc:creator>Modelo VIC</dc:creator>
  <cp:lastModifiedBy>Modelo VIC</cp:lastModifiedBy>
  <cp:revision>1</cp:revision>
  <dcterms:created xsi:type="dcterms:W3CDTF">2026-10-27T00:20:52Z</dcterms:created>
  <dcterms:modified xsi:type="dcterms:W3CDTF">2026-10-27T00:20:52Z</dcterms:modified>
</cp:coreProperties>
</file>